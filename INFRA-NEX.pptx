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ernoru" panose="020B0604020202020204" charset="0"/>
      <p:regular r:id="rId10"/>
      <p:bold r:id="rId11"/>
    </p:embeddedFont>
    <p:embeddedFont>
      <p:font typeface="TT Norms" panose="020B0604020202020204" charset="0"/>
      <p:regular r:id="rId12"/>
    </p:embeddedFont>
    <p:embeddedFont>
      <p:font typeface="TT Norms Bold" panose="020B0604020202020204" charset="0"/>
      <p:regular r:id="rId13"/>
      <p:bold r:id="rId14"/>
    </p:embeddedFont>
    <p:embeddedFont>
      <p:font typeface="TT Norms Bold Italics" panose="020B060402020202020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8394"/>
    <a:srgbClr val="148293"/>
    <a:srgbClr val="419AA8"/>
    <a:srgbClr val="137685"/>
    <a:srgbClr val="0F616E"/>
    <a:srgbClr val="23403D"/>
    <a:srgbClr val="43838D"/>
    <a:srgbClr val="106977"/>
    <a:srgbClr val="0166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263B4-01C3-4497-A04C-1D5C97918CE4}" v="220" dt="2025-12-19T20:07:42.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5033" autoAdjust="0"/>
  </p:normalViewPr>
  <p:slideViewPr>
    <p:cSldViewPr>
      <p:cViewPr varScale="1">
        <p:scale>
          <a:sx n="54" d="100"/>
          <a:sy n="54" d="100"/>
        </p:scale>
        <p:origin x="931"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microsoft.com/office/2015/10/relationships/revisionInfo" Target="revisionInfo.xml"/><Relationship Id="rId10" Type="http://schemas.openxmlformats.org/officeDocument/2006/relationships/font" Target="fonts/font1.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1.jpe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0.svg"/><Relationship Id="rId2" Type="http://schemas.openxmlformats.org/officeDocument/2006/relationships/image" Target="../media/image1.jpeg"/><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19.png"/><Relationship Id="rId5" Type="http://schemas.openxmlformats.org/officeDocument/2006/relationships/image" Target="../media/image15.png"/><Relationship Id="rId15" Type="http://schemas.openxmlformats.org/officeDocument/2006/relationships/image" Target="../media/image23.svg"/><Relationship Id="rId10" Type="http://schemas.openxmlformats.org/officeDocument/2006/relationships/image" Target="../media/image3.svg"/><Relationship Id="rId4" Type="http://schemas.openxmlformats.org/officeDocument/2006/relationships/image" Target="../media/image14.svg"/><Relationship Id="rId9" Type="http://schemas.openxmlformats.org/officeDocument/2006/relationships/image" Target="../media/image2.png"/><Relationship Id="rId1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579848" y="-3882709"/>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grpSp>
        <p:nvGrpSpPr>
          <p:cNvPr id="3" name="Group 3"/>
          <p:cNvGrpSpPr/>
          <p:nvPr/>
        </p:nvGrpSpPr>
        <p:grpSpPr>
          <a:xfrm>
            <a:off x="-3349299" y="-2840784"/>
            <a:ext cx="5114374" cy="4395165"/>
            <a:chOff x="0" y="0"/>
            <a:chExt cx="812800" cy="698500"/>
          </a:xfrm>
        </p:grpSpPr>
        <p:sp>
          <p:nvSpPr>
            <p:cNvPr id="4" name="Freeform 4"/>
            <p:cNvSpPr/>
            <p:nvPr/>
          </p:nvSpPr>
          <p:spPr>
            <a:xfrm>
              <a:off x="6125" y="0"/>
              <a:ext cx="800550" cy="698500"/>
            </a:xfrm>
            <a:custGeom>
              <a:avLst/>
              <a:gdLst/>
              <a:ahLst/>
              <a:cxnLst/>
              <a:rect l="l" t="t" r="r" b="b"/>
              <a:pathLst>
                <a:path w="800550" h="698500">
                  <a:moveTo>
                    <a:pt x="795256" y="368876"/>
                  </a:moveTo>
                  <a:lnTo>
                    <a:pt x="614894" y="678874"/>
                  </a:lnTo>
                  <a:cubicBezTo>
                    <a:pt x="607824" y="691025"/>
                    <a:pt x="594827" y="698500"/>
                    <a:pt x="580769" y="698500"/>
                  </a:cubicBezTo>
                  <a:lnTo>
                    <a:pt x="219781" y="698500"/>
                  </a:lnTo>
                  <a:cubicBezTo>
                    <a:pt x="205723" y="698500"/>
                    <a:pt x="192726" y="691025"/>
                    <a:pt x="185656" y="678874"/>
                  </a:cubicBezTo>
                  <a:lnTo>
                    <a:pt x="5294" y="368876"/>
                  </a:lnTo>
                  <a:cubicBezTo>
                    <a:pt x="-1765" y="356744"/>
                    <a:pt x="-1765" y="341756"/>
                    <a:pt x="5294" y="329624"/>
                  </a:cubicBezTo>
                  <a:lnTo>
                    <a:pt x="185656" y="19626"/>
                  </a:lnTo>
                  <a:cubicBezTo>
                    <a:pt x="192726" y="7475"/>
                    <a:pt x="205723" y="0"/>
                    <a:pt x="219781" y="0"/>
                  </a:cubicBezTo>
                  <a:lnTo>
                    <a:pt x="580769" y="0"/>
                  </a:lnTo>
                  <a:cubicBezTo>
                    <a:pt x="594827" y="0"/>
                    <a:pt x="607824" y="7475"/>
                    <a:pt x="614894" y="19626"/>
                  </a:cubicBezTo>
                  <a:lnTo>
                    <a:pt x="795256" y="329624"/>
                  </a:lnTo>
                  <a:cubicBezTo>
                    <a:pt x="802315" y="341756"/>
                    <a:pt x="802315" y="356744"/>
                    <a:pt x="795256" y="368876"/>
                  </a:cubicBezTo>
                  <a:close/>
                </a:path>
              </a:pathLst>
            </a:custGeom>
            <a:solidFill>
              <a:srgbClr val="148293"/>
            </a:solidFill>
          </p:spPr>
        </p:sp>
        <p:sp>
          <p:nvSpPr>
            <p:cNvPr id="5" name="TextBox 5"/>
            <p:cNvSpPr txBox="1"/>
            <p:nvPr/>
          </p:nvSpPr>
          <p:spPr>
            <a:xfrm>
              <a:off x="114300" y="-66675"/>
              <a:ext cx="584200" cy="765175"/>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a:off x="368234" y="385226"/>
            <a:ext cx="899017" cy="732699"/>
          </a:xfrm>
          <a:custGeom>
            <a:avLst/>
            <a:gdLst/>
            <a:ahLst/>
            <a:cxnLst/>
            <a:rect l="l" t="t" r="r" b="b"/>
            <a:pathLst>
              <a:path w="899017" h="732699">
                <a:moveTo>
                  <a:pt x="0" y="0"/>
                </a:moveTo>
                <a:lnTo>
                  <a:pt x="899017" y="0"/>
                </a:lnTo>
                <a:lnTo>
                  <a:pt x="899017" y="732699"/>
                </a:lnTo>
                <a:lnTo>
                  <a:pt x="0" y="7326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9081875" y="-514637"/>
            <a:ext cx="13168026" cy="11316273"/>
            <a:chOff x="0" y="0"/>
            <a:chExt cx="812800" cy="698500"/>
          </a:xfrm>
        </p:grpSpPr>
        <p:sp>
          <p:nvSpPr>
            <p:cNvPr id="8" name="Freeform 8"/>
            <p:cNvSpPr/>
            <p:nvPr/>
          </p:nvSpPr>
          <p:spPr>
            <a:xfrm>
              <a:off x="4758" y="0"/>
              <a:ext cx="803285" cy="698500"/>
            </a:xfrm>
            <a:custGeom>
              <a:avLst/>
              <a:gdLst/>
              <a:ahLst/>
              <a:cxnLst/>
              <a:rect l="l" t="t" r="r" b="b"/>
              <a:pathLst>
                <a:path w="803285" h="698500">
                  <a:moveTo>
                    <a:pt x="799172" y="364495"/>
                  </a:moveTo>
                  <a:lnTo>
                    <a:pt x="613712" y="683255"/>
                  </a:lnTo>
                  <a:cubicBezTo>
                    <a:pt x="608220" y="692693"/>
                    <a:pt x="598124" y="698500"/>
                    <a:pt x="587204" y="698500"/>
                  </a:cubicBezTo>
                  <a:lnTo>
                    <a:pt x="216080" y="698500"/>
                  </a:lnTo>
                  <a:cubicBezTo>
                    <a:pt x="205160" y="698500"/>
                    <a:pt x="195064" y="692693"/>
                    <a:pt x="189572" y="683255"/>
                  </a:cubicBezTo>
                  <a:lnTo>
                    <a:pt x="4112" y="364495"/>
                  </a:lnTo>
                  <a:cubicBezTo>
                    <a:pt x="-1371" y="355071"/>
                    <a:pt x="-1371" y="343429"/>
                    <a:pt x="4112" y="334005"/>
                  </a:cubicBezTo>
                  <a:lnTo>
                    <a:pt x="189572" y="15245"/>
                  </a:lnTo>
                  <a:cubicBezTo>
                    <a:pt x="195064" y="5807"/>
                    <a:pt x="205160" y="0"/>
                    <a:pt x="216080" y="0"/>
                  </a:cubicBezTo>
                  <a:lnTo>
                    <a:pt x="587204" y="0"/>
                  </a:lnTo>
                  <a:cubicBezTo>
                    <a:pt x="598124" y="0"/>
                    <a:pt x="608220" y="5807"/>
                    <a:pt x="613712" y="15245"/>
                  </a:cubicBezTo>
                  <a:lnTo>
                    <a:pt x="799172" y="334005"/>
                  </a:lnTo>
                  <a:cubicBezTo>
                    <a:pt x="804655" y="343429"/>
                    <a:pt x="804655" y="355071"/>
                    <a:pt x="799172" y="364495"/>
                  </a:cubicBezTo>
                  <a:close/>
                </a:path>
              </a:pathLst>
            </a:custGeom>
            <a:solidFill>
              <a:srgbClr val="92E9F6"/>
            </a:solidFill>
          </p:spPr>
        </p:sp>
        <p:sp>
          <p:nvSpPr>
            <p:cNvPr id="9" name="TextBox 9"/>
            <p:cNvSpPr txBox="1"/>
            <p:nvPr/>
          </p:nvSpPr>
          <p:spPr>
            <a:xfrm>
              <a:off x="114300" y="-66675"/>
              <a:ext cx="584200" cy="765175"/>
            </a:xfrm>
            <a:prstGeom prst="rect">
              <a:avLst/>
            </a:prstGeom>
          </p:spPr>
          <p:txBody>
            <a:bodyPr lIns="50800" tIns="50800" rIns="50800" bIns="50800" rtlCol="0" anchor="ctr"/>
            <a:lstStyle/>
            <a:p>
              <a:pPr algn="ctr">
                <a:lnSpc>
                  <a:spcPts val="3750"/>
                </a:lnSpc>
              </a:pPr>
              <a:endParaRPr/>
            </a:p>
          </p:txBody>
        </p:sp>
      </p:grpSp>
      <p:grpSp>
        <p:nvGrpSpPr>
          <p:cNvPr id="10" name="Group 10"/>
          <p:cNvGrpSpPr/>
          <p:nvPr/>
        </p:nvGrpSpPr>
        <p:grpSpPr>
          <a:xfrm>
            <a:off x="9886950" y="-2642796"/>
            <a:ext cx="13708112" cy="11783448"/>
            <a:chOff x="0" y="0"/>
            <a:chExt cx="812800" cy="698680"/>
          </a:xfrm>
        </p:grpSpPr>
        <p:sp>
          <p:nvSpPr>
            <p:cNvPr id="11" name="Freeform 11"/>
            <p:cNvSpPr/>
            <p:nvPr/>
          </p:nvSpPr>
          <p:spPr>
            <a:xfrm>
              <a:off x="4569" y="0"/>
              <a:ext cx="803661" cy="698680"/>
            </a:xfrm>
            <a:custGeom>
              <a:avLst/>
              <a:gdLst/>
              <a:ahLst/>
              <a:cxnLst/>
              <a:rect l="l" t="t" r="r" b="b"/>
              <a:pathLst>
                <a:path w="803661" h="698680">
                  <a:moveTo>
                    <a:pt x="799712" y="363986"/>
                  </a:moveTo>
                  <a:lnTo>
                    <a:pt x="613550" y="684035"/>
                  </a:lnTo>
                  <a:cubicBezTo>
                    <a:pt x="608276" y="693102"/>
                    <a:pt x="598578" y="698680"/>
                    <a:pt x="588088" y="698680"/>
                  </a:cubicBezTo>
                  <a:lnTo>
                    <a:pt x="215574" y="698680"/>
                  </a:lnTo>
                  <a:cubicBezTo>
                    <a:pt x="205084" y="698680"/>
                    <a:pt x="195386" y="693102"/>
                    <a:pt x="190112" y="684035"/>
                  </a:cubicBezTo>
                  <a:lnTo>
                    <a:pt x="3950" y="363986"/>
                  </a:lnTo>
                  <a:cubicBezTo>
                    <a:pt x="-1316" y="354932"/>
                    <a:pt x="-1316" y="343748"/>
                    <a:pt x="3950" y="334694"/>
                  </a:cubicBezTo>
                  <a:lnTo>
                    <a:pt x="190112" y="14646"/>
                  </a:lnTo>
                  <a:cubicBezTo>
                    <a:pt x="195386" y="5578"/>
                    <a:pt x="205084" y="0"/>
                    <a:pt x="215574" y="0"/>
                  </a:cubicBezTo>
                  <a:lnTo>
                    <a:pt x="588088" y="0"/>
                  </a:lnTo>
                  <a:cubicBezTo>
                    <a:pt x="598578" y="0"/>
                    <a:pt x="608276" y="5578"/>
                    <a:pt x="613550" y="14646"/>
                  </a:cubicBezTo>
                  <a:lnTo>
                    <a:pt x="799712" y="334694"/>
                  </a:lnTo>
                  <a:cubicBezTo>
                    <a:pt x="804978" y="343748"/>
                    <a:pt x="804978" y="354932"/>
                    <a:pt x="799712" y="363986"/>
                  </a:cubicBezTo>
                  <a:close/>
                </a:path>
              </a:pathLst>
            </a:custGeom>
            <a:solidFill>
              <a:srgbClr val="148293"/>
            </a:solidFill>
          </p:spPr>
        </p:sp>
        <p:sp>
          <p:nvSpPr>
            <p:cNvPr id="12" name="TextBox 12"/>
            <p:cNvSpPr txBox="1"/>
            <p:nvPr/>
          </p:nvSpPr>
          <p:spPr>
            <a:xfrm>
              <a:off x="114300" y="-66675"/>
              <a:ext cx="584200" cy="765355"/>
            </a:xfrm>
            <a:prstGeom prst="rect">
              <a:avLst/>
            </a:prstGeom>
          </p:spPr>
          <p:txBody>
            <a:bodyPr lIns="50800" tIns="50800" rIns="50800" bIns="50800" rtlCol="0" anchor="ctr"/>
            <a:lstStyle/>
            <a:p>
              <a:pPr algn="ctr">
                <a:lnSpc>
                  <a:spcPts val="3750"/>
                </a:lnSpc>
              </a:pPr>
              <a:endParaRPr/>
            </a:p>
          </p:txBody>
        </p:sp>
      </p:grpSp>
      <p:grpSp>
        <p:nvGrpSpPr>
          <p:cNvPr id="13" name="Group 13"/>
          <p:cNvGrpSpPr/>
          <p:nvPr/>
        </p:nvGrpSpPr>
        <p:grpSpPr>
          <a:xfrm>
            <a:off x="8781393" y="7918934"/>
            <a:ext cx="4883744" cy="4273276"/>
            <a:chOff x="0" y="0"/>
            <a:chExt cx="812800" cy="711200"/>
          </a:xfrm>
        </p:grpSpPr>
        <p:sp>
          <p:nvSpPr>
            <p:cNvPr id="14" name="Freeform 14"/>
            <p:cNvSpPr/>
            <p:nvPr/>
          </p:nvSpPr>
          <p:spPr>
            <a:xfrm>
              <a:off x="26612" y="36798"/>
              <a:ext cx="759577" cy="674402"/>
            </a:xfrm>
            <a:custGeom>
              <a:avLst/>
              <a:gdLst/>
              <a:ahLst/>
              <a:cxnLst/>
              <a:rect l="l" t="t" r="r" b="b"/>
              <a:pathLst>
                <a:path w="759577" h="674402">
                  <a:moveTo>
                    <a:pt x="411248" y="18257"/>
                  </a:moveTo>
                  <a:lnTo>
                    <a:pt x="754728" y="619347"/>
                  </a:lnTo>
                  <a:cubicBezTo>
                    <a:pt x="761236" y="630736"/>
                    <a:pt x="761189" y="644728"/>
                    <a:pt x="754605" y="656074"/>
                  </a:cubicBezTo>
                  <a:cubicBezTo>
                    <a:pt x="748021" y="667419"/>
                    <a:pt x="735896" y="674402"/>
                    <a:pt x="722778" y="674402"/>
                  </a:cubicBezTo>
                  <a:lnTo>
                    <a:pt x="36798" y="674402"/>
                  </a:lnTo>
                  <a:cubicBezTo>
                    <a:pt x="23680" y="674402"/>
                    <a:pt x="11555" y="667419"/>
                    <a:pt x="4971" y="656074"/>
                  </a:cubicBezTo>
                  <a:cubicBezTo>
                    <a:pt x="-1613" y="644728"/>
                    <a:pt x="-1660" y="630736"/>
                    <a:pt x="4848" y="619347"/>
                  </a:cubicBezTo>
                  <a:lnTo>
                    <a:pt x="348328" y="18257"/>
                  </a:lnTo>
                  <a:cubicBezTo>
                    <a:pt x="354779" y="6967"/>
                    <a:pt x="366785" y="0"/>
                    <a:pt x="379788" y="0"/>
                  </a:cubicBezTo>
                  <a:cubicBezTo>
                    <a:pt x="392791" y="0"/>
                    <a:pt x="404797" y="6967"/>
                    <a:pt x="411248" y="18257"/>
                  </a:cubicBezTo>
                  <a:close/>
                </a:path>
              </a:pathLst>
            </a:custGeom>
            <a:solidFill>
              <a:srgbClr val="148293">
                <a:alpha val="89804"/>
              </a:srgbClr>
            </a:solidFill>
          </p:spPr>
        </p:sp>
        <p:sp>
          <p:nvSpPr>
            <p:cNvPr id="15" name="TextBox 15"/>
            <p:cNvSpPr txBox="1"/>
            <p:nvPr/>
          </p:nvSpPr>
          <p:spPr>
            <a:xfrm>
              <a:off x="127000" y="263525"/>
              <a:ext cx="558800" cy="396875"/>
            </a:xfrm>
            <a:prstGeom prst="rect">
              <a:avLst/>
            </a:prstGeom>
          </p:spPr>
          <p:txBody>
            <a:bodyPr lIns="50800" tIns="50800" rIns="50800" bIns="50800" rtlCol="0" anchor="ctr"/>
            <a:lstStyle/>
            <a:p>
              <a:pPr algn="ctr">
                <a:lnSpc>
                  <a:spcPts val="3750"/>
                </a:lnSpc>
              </a:pPr>
              <a:endParaRPr/>
            </a:p>
          </p:txBody>
        </p:sp>
      </p:grpSp>
      <p:sp>
        <p:nvSpPr>
          <p:cNvPr id="16" name="Freeform 16"/>
          <p:cNvSpPr/>
          <p:nvPr/>
        </p:nvSpPr>
        <p:spPr>
          <a:xfrm>
            <a:off x="15185256" y="9686925"/>
            <a:ext cx="3111500" cy="1221264"/>
          </a:xfrm>
          <a:custGeom>
            <a:avLst/>
            <a:gdLst/>
            <a:ahLst/>
            <a:cxnLst/>
            <a:rect l="l" t="t" r="r" b="b"/>
            <a:pathLst>
              <a:path w="3111500" h="1221264">
                <a:moveTo>
                  <a:pt x="0" y="0"/>
                </a:moveTo>
                <a:lnTo>
                  <a:pt x="3111500" y="0"/>
                </a:lnTo>
                <a:lnTo>
                  <a:pt x="3111500" y="1221263"/>
                </a:lnTo>
                <a:lnTo>
                  <a:pt x="0" y="12212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7" name="Group 17"/>
          <p:cNvGrpSpPr/>
          <p:nvPr/>
        </p:nvGrpSpPr>
        <p:grpSpPr>
          <a:xfrm rot="-10800000">
            <a:off x="9733712" y="-1378656"/>
            <a:ext cx="3352042" cy="2933037"/>
            <a:chOff x="0" y="0"/>
            <a:chExt cx="812800" cy="711200"/>
          </a:xfrm>
        </p:grpSpPr>
        <p:sp>
          <p:nvSpPr>
            <p:cNvPr id="18" name="Freeform 18"/>
            <p:cNvSpPr/>
            <p:nvPr/>
          </p:nvSpPr>
          <p:spPr>
            <a:xfrm>
              <a:off x="29079" y="40210"/>
              <a:ext cx="754642" cy="670990"/>
            </a:xfrm>
            <a:custGeom>
              <a:avLst/>
              <a:gdLst/>
              <a:ahLst/>
              <a:cxnLst/>
              <a:rect l="l" t="t" r="r" b="b"/>
              <a:pathLst>
                <a:path w="754642" h="670990">
                  <a:moveTo>
                    <a:pt x="411698" y="19949"/>
                  </a:moveTo>
                  <a:lnTo>
                    <a:pt x="749344" y="610831"/>
                  </a:lnTo>
                  <a:cubicBezTo>
                    <a:pt x="756456" y="623276"/>
                    <a:pt x="756405" y="638565"/>
                    <a:pt x="749210" y="650963"/>
                  </a:cubicBezTo>
                  <a:cubicBezTo>
                    <a:pt x="742016" y="663360"/>
                    <a:pt x="728766" y="670990"/>
                    <a:pt x="714433" y="670990"/>
                  </a:cubicBezTo>
                  <a:lnTo>
                    <a:pt x="40209" y="670990"/>
                  </a:lnTo>
                  <a:cubicBezTo>
                    <a:pt x="25876" y="670990"/>
                    <a:pt x="12626" y="663360"/>
                    <a:pt x="5432" y="650963"/>
                  </a:cubicBezTo>
                  <a:cubicBezTo>
                    <a:pt x="-1763" y="638565"/>
                    <a:pt x="-1814" y="623276"/>
                    <a:pt x="5298" y="610831"/>
                  </a:cubicBezTo>
                  <a:lnTo>
                    <a:pt x="342944" y="19949"/>
                  </a:lnTo>
                  <a:cubicBezTo>
                    <a:pt x="349994" y="7613"/>
                    <a:pt x="363113" y="0"/>
                    <a:pt x="377321" y="0"/>
                  </a:cubicBezTo>
                  <a:cubicBezTo>
                    <a:pt x="391529" y="0"/>
                    <a:pt x="404648" y="7613"/>
                    <a:pt x="411698" y="19949"/>
                  </a:cubicBezTo>
                  <a:close/>
                </a:path>
              </a:pathLst>
            </a:custGeom>
            <a:solidFill>
              <a:srgbClr val="92E9F6">
                <a:alpha val="89804"/>
              </a:srgbClr>
            </a:solidFill>
          </p:spPr>
        </p:sp>
        <p:sp>
          <p:nvSpPr>
            <p:cNvPr id="19" name="TextBox 19"/>
            <p:cNvSpPr txBox="1"/>
            <p:nvPr/>
          </p:nvSpPr>
          <p:spPr>
            <a:xfrm>
              <a:off x="127000" y="263525"/>
              <a:ext cx="558800" cy="396875"/>
            </a:xfrm>
            <a:prstGeom prst="rect">
              <a:avLst/>
            </a:prstGeom>
          </p:spPr>
          <p:txBody>
            <a:bodyPr lIns="50800" tIns="50800" rIns="50800" bIns="50800" rtlCol="0" anchor="ctr"/>
            <a:lstStyle/>
            <a:p>
              <a:pPr algn="ctr">
                <a:lnSpc>
                  <a:spcPts val="3750"/>
                </a:lnSpc>
              </a:pPr>
              <a:endParaRPr/>
            </a:p>
          </p:txBody>
        </p:sp>
      </p:grpSp>
      <p:sp>
        <p:nvSpPr>
          <p:cNvPr id="20" name="Freeform 20"/>
          <p:cNvSpPr/>
          <p:nvPr/>
        </p:nvSpPr>
        <p:spPr>
          <a:xfrm>
            <a:off x="15185256" y="-339102"/>
            <a:ext cx="3111500" cy="1221264"/>
          </a:xfrm>
          <a:custGeom>
            <a:avLst/>
            <a:gdLst/>
            <a:ahLst/>
            <a:cxnLst/>
            <a:rect l="l" t="t" r="r" b="b"/>
            <a:pathLst>
              <a:path w="3111500" h="1221264">
                <a:moveTo>
                  <a:pt x="0" y="0"/>
                </a:moveTo>
                <a:lnTo>
                  <a:pt x="3111500" y="0"/>
                </a:lnTo>
                <a:lnTo>
                  <a:pt x="3111500" y="1221264"/>
                </a:lnTo>
                <a:lnTo>
                  <a:pt x="0" y="12212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9886145" y="882162"/>
            <a:ext cx="7486261" cy="6878002"/>
          </a:xfrm>
          <a:custGeom>
            <a:avLst/>
            <a:gdLst/>
            <a:ahLst/>
            <a:cxnLst/>
            <a:rect l="l" t="t" r="r" b="b"/>
            <a:pathLst>
              <a:path w="7486261" h="6878002">
                <a:moveTo>
                  <a:pt x="0" y="0"/>
                </a:moveTo>
                <a:lnTo>
                  <a:pt x="7486261" y="0"/>
                </a:lnTo>
                <a:lnTo>
                  <a:pt x="7486261" y="6878002"/>
                </a:lnTo>
                <a:lnTo>
                  <a:pt x="0" y="6878002"/>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grpSp>
        <p:nvGrpSpPr>
          <p:cNvPr id="22" name="Group 22"/>
          <p:cNvGrpSpPr/>
          <p:nvPr/>
        </p:nvGrpSpPr>
        <p:grpSpPr>
          <a:xfrm>
            <a:off x="10046427" y="1287867"/>
            <a:ext cx="9137786" cy="7852785"/>
            <a:chOff x="0" y="0"/>
            <a:chExt cx="812800" cy="698500"/>
          </a:xfrm>
        </p:grpSpPr>
        <p:sp>
          <p:nvSpPr>
            <p:cNvPr id="23" name="Freeform 23"/>
            <p:cNvSpPr/>
            <p:nvPr/>
          </p:nvSpPr>
          <p:spPr>
            <a:xfrm>
              <a:off x="9141" y="0"/>
              <a:ext cx="794517" cy="698500"/>
            </a:xfrm>
            <a:custGeom>
              <a:avLst/>
              <a:gdLst/>
              <a:ahLst/>
              <a:cxnLst/>
              <a:rect l="l" t="t" r="r" b="b"/>
              <a:pathLst>
                <a:path w="794517" h="698500">
                  <a:moveTo>
                    <a:pt x="786616" y="378542"/>
                  </a:moveTo>
                  <a:lnTo>
                    <a:pt x="617502" y="669208"/>
                  </a:lnTo>
                  <a:cubicBezTo>
                    <a:pt x="606950" y="687343"/>
                    <a:pt x="587551" y="698500"/>
                    <a:pt x="566569" y="698500"/>
                  </a:cubicBezTo>
                  <a:lnTo>
                    <a:pt x="227949" y="698500"/>
                  </a:lnTo>
                  <a:cubicBezTo>
                    <a:pt x="206967" y="698500"/>
                    <a:pt x="187568" y="687343"/>
                    <a:pt x="177016" y="669208"/>
                  </a:cubicBezTo>
                  <a:lnTo>
                    <a:pt x="7902" y="378542"/>
                  </a:lnTo>
                  <a:cubicBezTo>
                    <a:pt x="-2633" y="360435"/>
                    <a:pt x="-2633" y="338065"/>
                    <a:pt x="7902" y="319958"/>
                  </a:cubicBezTo>
                  <a:lnTo>
                    <a:pt x="177016" y="29293"/>
                  </a:lnTo>
                  <a:cubicBezTo>
                    <a:pt x="187568" y="11157"/>
                    <a:pt x="206967" y="0"/>
                    <a:pt x="227949" y="0"/>
                  </a:cubicBezTo>
                  <a:lnTo>
                    <a:pt x="566569" y="0"/>
                  </a:lnTo>
                  <a:cubicBezTo>
                    <a:pt x="587551" y="0"/>
                    <a:pt x="606950" y="11157"/>
                    <a:pt x="617502" y="29293"/>
                  </a:cubicBezTo>
                  <a:lnTo>
                    <a:pt x="786616" y="319958"/>
                  </a:lnTo>
                  <a:cubicBezTo>
                    <a:pt x="797151" y="338065"/>
                    <a:pt x="797151" y="360435"/>
                    <a:pt x="786616" y="378542"/>
                  </a:cubicBezTo>
                  <a:close/>
                </a:path>
              </a:pathLst>
            </a:custGeom>
            <a:solidFill>
              <a:srgbClr val="FFFFFF"/>
            </a:solidFill>
          </p:spPr>
        </p:sp>
        <p:sp>
          <p:nvSpPr>
            <p:cNvPr id="24" name="TextBox 24"/>
            <p:cNvSpPr txBox="1"/>
            <p:nvPr/>
          </p:nvSpPr>
          <p:spPr>
            <a:xfrm>
              <a:off x="114300" y="-66675"/>
              <a:ext cx="584200" cy="765175"/>
            </a:xfrm>
            <a:prstGeom prst="rect">
              <a:avLst/>
            </a:prstGeom>
          </p:spPr>
          <p:txBody>
            <a:bodyPr lIns="61771" tIns="61771" rIns="61771" bIns="61771" rtlCol="0" anchor="ctr"/>
            <a:lstStyle/>
            <a:p>
              <a:pPr algn="ctr">
                <a:lnSpc>
                  <a:spcPts val="3750"/>
                </a:lnSpc>
              </a:pPr>
              <a:endParaRPr/>
            </a:p>
          </p:txBody>
        </p:sp>
      </p:grpSp>
      <p:grpSp>
        <p:nvGrpSpPr>
          <p:cNvPr id="25" name="Group 25"/>
          <p:cNvGrpSpPr/>
          <p:nvPr/>
        </p:nvGrpSpPr>
        <p:grpSpPr>
          <a:xfrm>
            <a:off x="2111065" y="232057"/>
            <a:ext cx="7276658" cy="1593287"/>
            <a:chOff x="0" y="0"/>
            <a:chExt cx="9702211" cy="2124382"/>
          </a:xfrm>
        </p:grpSpPr>
        <p:sp>
          <p:nvSpPr>
            <p:cNvPr id="26" name="Freeform 26"/>
            <p:cNvSpPr/>
            <p:nvPr/>
          </p:nvSpPr>
          <p:spPr>
            <a:xfrm>
              <a:off x="4890866" y="0"/>
              <a:ext cx="2124382" cy="2124382"/>
            </a:xfrm>
            <a:custGeom>
              <a:avLst/>
              <a:gdLst/>
              <a:ahLst/>
              <a:cxnLst/>
              <a:rect l="l" t="t" r="r" b="b"/>
              <a:pathLst>
                <a:path w="2124382" h="2124382">
                  <a:moveTo>
                    <a:pt x="0" y="0"/>
                  </a:moveTo>
                  <a:lnTo>
                    <a:pt x="2124382" y="0"/>
                  </a:lnTo>
                  <a:lnTo>
                    <a:pt x="2124382" y="2124382"/>
                  </a:lnTo>
                  <a:lnTo>
                    <a:pt x="0" y="2124382"/>
                  </a:lnTo>
                  <a:lnTo>
                    <a:pt x="0" y="0"/>
                  </a:lnTo>
                  <a:close/>
                </a:path>
              </a:pathLst>
            </a:custGeom>
            <a:blipFill>
              <a:blip r:embed="rId9"/>
              <a:stretch>
                <a:fillRect/>
              </a:stretch>
            </a:blipFill>
          </p:spPr>
        </p:sp>
        <p:sp>
          <p:nvSpPr>
            <p:cNvPr id="27" name="Freeform 27"/>
            <p:cNvSpPr/>
            <p:nvPr/>
          </p:nvSpPr>
          <p:spPr>
            <a:xfrm>
              <a:off x="0" y="0"/>
              <a:ext cx="1266663" cy="2124382"/>
            </a:xfrm>
            <a:custGeom>
              <a:avLst/>
              <a:gdLst/>
              <a:ahLst/>
              <a:cxnLst/>
              <a:rect l="l" t="t" r="r" b="b"/>
              <a:pathLst>
                <a:path w="1266663" h="2124382">
                  <a:moveTo>
                    <a:pt x="0" y="0"/>
                  </a:moveTo>
                  <a:lnTo>
                    <a:pt x="1266663" y="0"/>
                  </a:lnTo>
                  <a:lnTo>
                    <a:pt x="1266663" y="2124382"/>
                  </a:lnTo>
                  <a:lnTo>
                    <a:pt x="0" y="2124382"/>
                  </a:lnTo>
                  <a:lnTo>
                    <a:pt x="0" y="0"/>
                  </a:lnTo>
                  <a:close/>
                </a:path>
              </a:pathLst>
            </a:custGeom>
            <a:blipFill>
              <a:blip r:embed="rId10"/>
              <a:stretch>
                <a:fillRect/>
              </a:stretch>
            </a:blipFill>
          </p:spPr>
        </p:sp>
        <p:sp>
          <p:nvSpPr>
            <p:cNvPr id="28" name="Freeform 28"/>
            <p:cNvSpPr/>
            <p:nvPr/>
          </p:nvSpPr>
          <p:spPr>
            <a:xfrm>
              <a:off x="2099809" y="0"/>
              <a:ext cx="2113760" cy="2124382"/>
            </a:xfrm>
            <a:custGeom>
              <a:avLst/>
              <a:gdLst/>
              <a:ahLst/>
              <a:cxnLst/>
              <a:rect l="l" t="t" r="r" b="b"/>
              <a:pathLst>
                <a:path w="2113760" h="2124382">
                  <a:moveTo>
                    <a:pt x="0" y="0"/>
                  </a:moveTo>
                  <a:lnTo>
                    <a:pt x="2113760" y="0"/>
                  </a:lnTo>
                  <a:lnTo>
                    <a:pt x="2113760" y="2124382"/>
                  </a:lnTo>
                  <a:lnTo>
                    <a:pt x="0" y="2124382"/>
                  </a:lnTo>
                  <a:lnTo>
                    <a:pt x="0" y="0"/>
                  </a:lnTo>
                  <a:close/>
                </a:path>
              </a:pathLst>
            </a:custGeom>
            <a:blipFill>
              <a:blip r:embed="rId11"/>
              <a:stretch>
                <a:fillRect/>
              </a:stretch>
            </a:blipFill>
          </p:spPr>
        </p:sp>
        <p:sp>
          <p:nvSpPr>
            <p:cNvPr id="29" name="Freeform 29"/>
            <p:cNvSpPr/>
            <p:nvPr/>
          </p:nvSpPr>
          <p:spPr>
            <a:xfrm>
              <a:off x="8043671" y="0"/>
              <a:ext cx="1461963" cy="1461963"/>
            </a:xfrm>
            <a:custGeom>
              <a:avLst/>
              <a:gdLst/>
              <a:ahLst/>
              <a:cxnLst/>
              <a:rect l="l" t="t" r="r" b="b"/>
              <a:pathLst>
                <a:path w="1461963" h="1461963">
                  <a:moveTo>
                    <a:pt x="0" y="0"/>
                  </a:moveTo>
                  <a:lnTo>
                    <a:pt x="1461963" y="0"/>
                  </a:lnTo>
                  <a:lnTo>
                    <a:pt x="1461963" y="1461963"/>
                  </a:lnTo>
                  <a:lnTo>
                    <a:pt x="0" y="1461963"/>
                  </a:lnTo>
                  <a:lnTo>
                    <a:pt x="0" y="0"/>
                  </a:lnTo>
                  <a:close/>
                </a:path>
              </a:pathLst>
            </a:custGeom>
            <a:blipFill>
              <a:blip r:embed="rId12"/>
              <a:stretch>
                <a:fillRect/>
              </a:stretch>
            </a:blipFill>
          </p:spPr>
        </p:sp>
        <p:sp>
          <p:nvSpPr>
            <p:cNvPr id="30" name="TextBox 30"/>
            <p:cNvSpPr txBox="1"/>
            <p:nvPr/>
          </p:nvSpPr>
          <p:spPr>
            <a:xfrm>
              <a:off x="7952100" y="1506416"/>
              <a:ext cx="1645105" cy="331833"/>
            </a:xfrm>
            <a:prstGeom prst="rect">
              <a:avLst/>
            </a:prstGeom>
          </p:spPr>
          <p:txBody>
            <a:bodyPr lIns="0" tIns="0" rIns="0" bIns="0" rtlCol="0" anchor="t">
              <a:spAutoFit/>
            </a:bodyPr>
            <a:lstStyle/>
            <a:p>
              <a:pPr algn="ctr">
                <a:lnSpc>
                  <a:spcPts val="2031"/>
                </a:lnSpc>
                <a:spcBef>
                  <a:spcPct val="0"/>
                </a:spcBef>
              </a:pPr>
              <a:r>
                <a:rPr lang="en-US" sz="1451" spc="105">
                  <a:solidFill>
                    <a:srgbClr val="006EB7"/>
                  </a:solidFill>
                  <a:latin typeface="Bernoru"/>
                  <a:ea typeface="Bernoru"/>
                  <a:cs typeface="Bernoru"/>
                  <a:sym typeface="Bernoru"/>
                </a:rPr>
                <a:t>IEEE, KSV</a:t>
              </a:r>
            </a:p>
          </p:txBody>
        </p:sp>
        <p:sp>
          <p:nvSpPr>
            <p:cNvPr id="31" name="TextBox 31"/>
            <p:cNvSpPr txBox="1"/>
            <p:nvPr/>
          </p:nvSpPr>
          <p:spPr>
            <a:xfrm>
              <a:off x="7847094" y="1892227"/>
              <a:ext cx="1855117" cy="232156"/>
            </a:xfrm>
            <a:prstGeom prst="rect">
              <a:avLst/>
            </a:prstGeom>
          </p:spPr>
          <p:txBody>
            <a:bodyPr lIns="0" tIns="0" rIns="0" bIns="0" rtlCol="0" anchor="t">
              <a:spAutoFit/>
            </a:bodyPr>
            <a:lstStyle/>
            <a:p>
              <a:pPr algn="ctr">
                <a:lnSpc>
                  <a:spcPts val="1403"/>
                </a:lnSpc>
                <a:spcBef>
                  <a:spcPct val="0"/>
                </a:spcBef>
              </a:pPr>
              <a:r>
                <a:rPr lang="en-US" sz="1002" spc="73">
                  <a:solidFill>
                    <a:srgbClr val="006EB7"/>
                  </a:solidFill>
                  <a:latin typeface="Bernoru"/>
                  <a:ea typeface="Bernoru"/>
                  <a:cs typeface="Bernoru"/>
                  <a:sym typeface="Bernoru"/>
                </a:rPr>
                <a:t>STUDENT BRANCH</a:t>
              </a:r>
            </a:p>
          </p:txBody>
        </p:sp>
      </p:grpSp>
      <p:sp>
        <p:nvSpPr>
          <p:cNvPr id="32" name="TextBox 32"/>
          <p:cNvSpPr txBox="1"/>
          <p:nvPr/>
        </p:nvSpPr>
        <p:spPr>
          <a:xfrm>
            <a:off x="90571" y="3472373"/>
            <a:ext cx="8940537" cy="4062651"/>
          </a:xfrm>
          <a:prstGeom prst="rect">
            <a:avLst/>
          </a:prstGeom>
        </p:spPr>
        <p:txBody>
          <a:bodyPr wrap="square" lIns="0" tIns="0" rIns="0" bIns="0" rtlCol="0" anchor="t">
            <a:spAutoFit/>
          </a:bodyPr>
          <a:lstStyle/>
          <a:p>
            <a:pPr algn="just"/>
            <a:r>
              <a:rPr lang="en-US" sz="3200" b="1" dirty="0">
                <a:solidFill>
                  <a:srgbClr val="23403D"/>
                </a:solidFill>
                <a:latin typeface="TT Norms Bold"/>
                <a:ea typeface="TT Norms Bold"/>
                <a:cs typeface="TT Norms Bold"/>
                <a:sym typeface="TT Norms Bold"/>
              </a:rPr>
              <a:t>PROBLEM</a:t>
            </a:r>
            <a:r>
              <a:rPr lang="en-US" sz="3600" b="1" dirty="0">
                <a:solidFill>
                  <a:srgbClr val="23403D"/>
                </a:solidFill>
                <a:latin typeface="TT Norms Bold"/>
                <a:ea typeface="TT Norms Bold"/>
                <a:cs typeface="TT Norms Bold"/>
                <a:sym typeface="TT Norms Bold"/>
              </a:rPr>
              <a:t> </a:t>
            </a:r>
            <a:r>
              <a:rPr lang="en-US" sz="3200" b="1" dirty="0">
                <a:solidFill>
                  <a:srgbClr val="23403D"/>
                </a:solidFill>
                <a:latin typeface="TT Norms Bold"/>
                <a:ea typeface="TT Norms Bold"/>
                <a:cs typeface="TT Norms Bold"/>
                <a:sym typeface="TT Norms Bold"/>
              </a:rPr>
              <a:t>STATEMENT:</a:t>
            </a:r>
            <a:endParaRPr lang="en-US" sz="3600" b="1" dirty="0">
              <a:solidFill>
                <a:srgbClr val="23403D"/>
              </a:solidFill>
              <a:latin typeface="TT Norms Bold"/>
              <a:ea typeface="TT Norms Bold"/>
              <a:cs typeface="TT Norms Bold"/>
              <a:sym typeface="TT Norms Bold"/>
            </a:endParaRPr>
          </a:p>
          <a:p>
            <a:pPr algn="just"/>
            <a:r>
              <a:rPr lang="en-US" sz="2400" dirty="0">
                <a:solidFill>
                  <a:srgbClr val="43838D"/>
                </a:solidFill>
                <a:latin typeface="TT Norms" panose="020B0604020202020204" charset="0"/>
              </a:rPr>
              <a:t> </a:t>
            </a:r>
            <a:r>
              <a:rPr lang="en-US" sz="2800" b="1" dirty="0">
                <a:solidFill>
                  <a:srgbClr val="43838D"/>
                </a:solidFill>
                <a:latin typeface="TT Norms" panose="020B0604020202020204" charset="0"/>
              </a:rPr>
              <a:t>Industrial motors often fail unexpectedly due to issues like voltage drops, abnormal vibrations, overheating, or reduced RPM. These unplanned failures lead to costly downtime, safety risks, and reduced productivity. There is a need for a smart, real-time motor monitoring system that can automatically sense performance deviations, detect early signs of faults, and accurately predict motor failure before it occurs.</a:t>
            </a:r>
            <a:endParaRPr lang="en-US" sz="4800" b="1" dirty="0">
              <a:solidFill>
                <a:srgbClr val="23403D"/>
              </a:solidFill>
              <a:latin typeface="TT Norms Bold"/>
              <a:ea typeface="TT Norms Bold"/>
              <a:cs typeface="TT Norms Bold"/>
              <a:sym typeface="TT Norms Bold"/>
            </a:endParaRPr>
          </a:p>
        </p:txBody>
      </p:sp>
      <p:sp>
        <p:nvSpPr>
          <p:cNvPr id="33" name="TextBox 33"/>
          <p:cNvSpPr txBox="1"/>
          <p:nvPr/>
        </p:nvSpPr>
        <p:spPr>
          <a:xfrm>
            <a:off x="140165" y="7520813"/>
            <a:ext cx="9953842" cy="1787733"/>
          </a:xfrm>
          <a:prstGeom prst="rect">
            <a:avLst/>
          </a:prstGeom>
        </p:spPr>
        <p:txBody>
          <a:bodyPr lIns="0" tIns="0" rIns="0" bIns="0" rtlCol="0" anchor="t">
            <a:spAutoFit/>
          </a:bodyPr>
          <a:lstStyle/>
          <a:p>
            <a:pPr algn="l">
              <a:lnSpc>
                <a:spcPts val="4739"/>
              </a:lnSpc>
            </a:pPr>
            <a:r>
              <a:rPr lang="en-US" sz="3385" b="1" dirty="0">
                <a:solidFill>
                  <a:srgbClr val="23403D"/>
                </a:solidFill>
                <a:latin typeface="TT Norms Bold"/>
                <a:ea typeface="TT Norms Bold"/>
                <a:cs typeface="TT Norms Bold"/>
                <a:sym typeface="TT Norms Bold"/>
              </a:rPr>
              <a:t>Team ID:</a:t>
            </a:r>
          </a:p>
          <a:p>
            <a:pPr algn="l">
              <a:lnSpc>
                <a:spcPts val="4739"/>
              </a:lnSpc>
            </a:pPr>
            <a:r>
              <a:rPr lang="en-US" sz="3385" b="1" dirty="0">
                <a:solidFill>
                  <a:srgbClr val="23403D"/>
                </a:solidFill>
                <a:latin typeface="TT Norms Bold"/>
                <a:ea typeface="TT Norms Bold"/>
                <a:cs typeface="TT Norms Bold"/>
                <a:sym typeface="TT Norms Bold"/>
              </a:rPr>
              <a:t>Team Name: </a:t>
            </a:r>
            <a:r>
              <a:rPr lang="en-US" sz="3385" b="1" dirty="0">
                <a:solidFill>
                  <a:srgbClr val="0F616E"/>
                </a:solidFill>
                <a:latin typeface="TT Norms" panose="020B0604020202020204" charset="0"/>
                <a:ea typeface="TT Norms Bold"/>
                <a:cs typeface="TT Norms Bold"/>
                <a:sym typeface="TT Norms Bold"/>
              </a:rPr>
              <a:t>INFRA-NEX</a:t>
            </a:r>
          </a:p>
          <a:p>
            <a:pPr algn="l">
              <a:lnSpc>
                <a:spcPts val="4739"/>
              </a:lnSpc>
            </a:pPr>
            <a:r>
              <a:rPr lang="en-US" sz="3385" b="1" dirty="0">
                <a:solidFill>
                  <a:srgbClr val="23403D"/>
                </a:solidFill>
                <a:latin typeface="TT Norms Bold"/>
                <a:ea typeface="TT Norms Bold"/>
                <a:cs typeface="TT Norms Bold"/>
                <a:sym typeface="TT Norms Bold"/>
              </a:rPr>
              <a:t>Institute Name: </a:t>
            </a:r>
            <a:r>
              <a:rPr lang="en-US" sz="3385" b="1" dirty="0">
                <a:solidFill>
                  <a:srgbClr val="0F616E"/>
                </a:solidFill>
                <a:latin typeface="TT Norms" panose="020B0604020202020204" charset="0"/>
                <a:ea typeface="TT Norms Bold"/>
                <a:cs typeface="TT Norms Bold"/>
                <a:sym typeface="TT Norms Bold"/>
              </a:rPr>
              <a:t>LDRP-ITR</a:t>
            </a:r>
            <a:r>
              <a:rPr lang="en-US" sz="3385" b="1" dirty="0">
                <a:solidFill>
                  <a:srgbClr val="23403D"/>
                </a:solidFill>
                <a:latin typeface="TT Norms" panose="020B0604020202020204" charset="0"/>
                <a:ea typeface="TT Norms Bold"/>
                <a:cs typeface="TT Norms Bold"/>
                <a:sym typeface="TT Norms Bold"/>
              </a:rPr>
              <a:t> </a:t>
            </a:r>
          </a:p>
        </p:txBody>
      </p:sp>
      <p:sp>
        <p:nvSpPr>
          <p:cNvPr id="34" name="TextBox 34"/>
          <p:cNvSpPr txBox="1"/>
          <p:nvPr/>
        </p:nvSpPr>
        <p:spPr>
          <a:xfrm>
            <a:off x="100308" y="2557159"/>
            <a:ext cx="9132327" cy="465512"/>
          </a:xfrm>
          <a:prstGeom prst="rect">
            <a:avLst/>
          </a:prstGeom>
        </p:spPr>
        <p:txBody>
          <a:bodyPr lIns="0" tIns="0" rIns="0" bIns="0" rtlCol="0" anchor="t">
            <a:spAutoFit/>
          </a:bodyPr>
          <a:lstStyle/>
          <a:p>
            <a:pPr algn="l">
              <a:lnSpc>
                <a:spcPts val="3386"/>
              </a:lnSpc>
            </a:pPr>
            <a:r>
              <a:rPr lang="en-US" sz="3386" dirty="0">
                <a:solidFill>
                  <a:srgbClr val="23403D"/>
                </a:solidFill>
                <a:latin typeface="TT Norms Bold"/>
                <a:ea typeface="TT Norms Bold"/>
                <a:cs typeface="TT Norms Bold"/>
                <a:sym typeface="TT Norms Bold"/>
              </a:rPr>
              <a:t>Track Number</a:t>
            </a:r>
            <a:r>
              <a:rPr lang="en-US" sz="3386" b="1" dirty="0">
                <a:solidFill>
                  <a:srgbClr val="23403D"/>
                </a:solidFill>
                <a:latin typeface="TT Norms Bold"/>
                <a:ea typeface="TT Norms Bold"/>
                <a:cs typeface="TT Norms Bold"/>
                <a:sym typeface="TT Norms Bold"/>
              </a:rPr>
              <a:t>:</a:t>
            </a:r>
            <a:r>
              <a:rPr lang="en-US" sz="3600" dirty="0">
                <a:solidFill>
                  <a:srgbClr val="0F616E"/>
                </a:solidFill>
                <a:latin typeface="TT Norms" panose="020B0604020202020204" charset="0"/>
                <a:ea typeface="TT Norms Bold"/>
                <a:cs typeface="TT Norms Bold"/>
                <a:sym typeface="TT Norms Bold"/>
              </a:rPr>
              <a:t>2</a:t>
            </a:r>
            <a:endParaRPr lang="en-US" sz="3386" dirty="0">
              <a:solidFill>
                <a:srgbClr val="0F616E"/>
              </a:solidFill>
              <a:latin typeface="TT Norms" panose="020B0604020202020204" charset="0"/>
              <a:ea typeface="TT Norms Bold"/>
              <a:cs typeface="TT Norms Bold"/>
              <a:sym typeface="TT Norms Bold"/>
            </a:endParaRPr>
          </a:p>
        </p:txBody>
      </p:sp>
      <p:sp>
        <p:nvSpPr>
          <p:cNvPr id="35" name="TextBox 35"/>
          <p:cNvSpPr txBox="1"/>
          <p:nvPr/>
        </p:nvSpPr>
        <p:spPr>
          <a:xfrm>
            <a:off x="94603" y="3078122"/>
            <a:ext cx="10853055" cy="465512"/>
          </a:xfrm>
          <a:prstGeom prst="rect">
            <a:avLst/>
          </a:prstGeom>
        </p:spPr>
        <p:txBody>
          <a:bodyPr wrap="square" lIns="0" tIns="0" rIns="0" bIns="0" rtlCol="0" anchor="t">
            <a:spAutoFit/>
          </a:bodyPr>
          <a:lstStyle/>
          <a:p>
            <a:pPr>
              <a:lnSpc>
                <a:spcPts val="3386"/>
              </a:lnSpc>
            </a:pPr>
            <a:r>
              <a:rPr lang="en-US" sz="3386" b="1" dirty="0">
                <a:solidFill>
                  <a:srgbClr val="23403D"/>
                </a:solidFill>
                <a:latin typeface="TT Norms Bold"/>
                <a:ea typeface="TT Norms Bold"/>
                <a:cs typeface="TT Norms Bold"/>
                <a:sym typeface="TT Norms Bold"/>
              </a:rPr>
              <a:t>Track Title: </a:t>
            </a:r>
            <a:r>
              <a:rPr lang="en-US" sz="3200" b="1" dirty="0">
                <a:solidFill>
                  <a:srgbClr val="0F616E"/>
                </a:solidFill>
                <a:latin typeface="TT Norms" panose="020B0604020202020204" charset="0"/>
                <a:ea typeface="TT Norms Bold"/>
                <a:cs typeface="TT Norms Bold"/>
                <a:sym typeface="TT Norms Bold"/>
              </a:rPr>
              <a:t>S</a:t>
            </a:r>
            <a:r>
              <a:rPr lang="en-US" sz="3200" b="1" dirty="0">
                <a:solidFill>
                  <a:srgbClr val="0F616E"/>
                </a:solidFill>
                <a:latin typeface="TT Norms" panose="020B0604020202020204" charset="0"/>
              </a:rPr>
              <a:t>afe ,Trusted &amp; Responsible Technology </a:t>
            </a:r>
            <a:endParaRPr lang="en-US" sz="3386" b="1" dirty="0">
              <a:solidFill>
                <a:srgbClr val="0F616E"/>
              </a:solidFill>
              <a:latin typeface="TT Norms" panose="020B0604020202020204" charset="0"/>
              <a:ea typeface="TT Norms Bold"/>
              <a:cs typeface="TT Norms Bold"/>
              <a:sym typeface="TT Norms Bold"/>
            </a:endParaRPr>
          </a:p>
        </p:txBody>
      </p:sp>
      <p:sp>
        <p:nvSpPr>
          <p:cNvPr id="37" name="Freeform 37"/>
          <p:cNvSpPr/>
          <p:nvPr/>
        </p:nvSpPr>
        <p:spPr>
          <a:xfrm>
            <a:off x="10801846" y="1330026"/>
            <a:ext cx="7626948" cy="7626948"/>
          </a:xfrm>
          <a:custGeom>
            <a:avLst/>
            <a:gdLst/>
            <a:ahLst/>
            <a:cxnLst/>
            <a:rect l="l" t="t" r="r" b="b"/>
            <a:pathLst>
              <a:path w="7626948" h="7626948">
                <a:moveTo>
                  <a:pt x="0" y="0"/>
                </a:moveTo>
                <a:lnTo>
                  <a:pt x="7626948" y="0"/>
                </a:lnTo>
                <a:lnTo>
                  <a:pt x="7626948" y="7626948"/>
                </a:lnTo>
                <a:lnTo>
                  <a:pt x="0" y="7626948"/>
                </a:lnTo>
                <a:lnTo>
                  <a:pt x="0" y="0"/>
                </a:lnTo>
                <a:close/>
              </a:path>
            </a:pathLst>
          </a:custGeom>
          <a:blipFill>
            <a:blip r:embed="rId13"/>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flipH="1">
            <a:off x="38285" y="2130876"/>
            <a:ext cx="18288000" cy="6286500"/>
          </a:xfrm>
          <a:custGeom>
            <a:avLst/>
            <a:gdLst/>
            <a:ahLst/>
            <a:cxnLst/>
            <a:rect l="l" t="t" r="r" b="b"/>
            <a:pathLst>
              <a:path w="18288000" h="6286500">
                <a:moveTo>
                  <a:pt x="18288000" y="0"/>
                </a:moveTo>
                <a:lnTo>
                  <a:pt x="0" y="0"/>
                </a:lnTo>
                <a:lnTo>
                  <a:pt x="0" y="6286500"/>
                </a:lnTo>
                <a:lnTo>
                  <a:pt x="18288000" y="6286500"/>
                </a:lnTo>
                <a:lnTo>
                  <a:pt x="18288000" y="0"/>
                </a:lnTo>
                <a:close/>
              </a:path>
            </a:pathLst>
          </a:custGeom>
          <a:blipFill>
            <a:blip r:embed="rId3">
              <a:alphaModFix amt="8999"/>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17259300" y="9272404"/>
            <a:ext cx="2057400" cy="807530"/>
          </a:xfrm>
          <a:custGeom>
            <a:avLst/>
            <a:gdLst/>
            <a:ahLst/>
            <a:cxnLst/>
            <a:rect l="l" t="t" r="r" b="b"/>
            <a:pathLst>
              <a:path w="2057400" h="807530">
                <a:moveTo>
                  <a:pt x="0" y="0"/>
                </a:moveTo>
                <a:lnTo>
                  <a:pt x="2057400" y="0"/>
                </a:lnTo>
                <a:lnTo>
                  <a:pt x="2057400" y="807529"/>
                </a:lnTo>
                <a:lnTo>
                  <a:pt x="0" y="8075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606320" y="8731496"/>
            <a:ext cx="17956546" cy="2418629"/>
          </a:xfrm>
          <a:custGeom>
            <a:avLst/>
            <a:gdLst/>
            <a:ahLst/>
            <a:cxnLst/>
            <a:rect l="l" t="t" r="r" b="b"/>
            <a:pathLst>
              <a:path w="17956546" h="2418629">
                <a:moveTo>
                  <a:pt x="0" y="0"/>
                </a:moveTo>
                <a:lnTo>
                  <a:pt x="17956546" y="0"/>
                </a:lnTo>
                <a:lnTo>
                  <a:pt x="17956546" y="2418629"/>
                </a:lnTo>
                <a:lnTo>
                  <a:pt x="0" y="2418629"/>
                </a:lnTo>
                <a:lnTo>
                  <a:pt x="0" y="0"/>
                </a:lnTo>
                <a:close/>
              </a:path>
            </a:pathLst>
          </a:custGeom>
          <a:blipFill>
            <a:blip r:embed="rId7">
              <a:extLst>
                <a:ext uri="{96DAC541-7B7A-43D3-8B79-37D633B846F1}">
                  <asvg:svgBlip xmlns:asvg="http://schemas.microsoft.com/office/drawing/2016/SVG/main" r:embed="rId8"/>
                </a:ext>
              </a:extLst>
            </a:blip>
            <a:stretch>
              <a:fillRect t="-483732"/>
            </a:stretch>
          </a:blipFill>
        </p:spPr>
      </p:sp>
      <p:grpSp>
        <p:nvGrpSpPr>
          <p:cNvPr id="6" name="Group 6"/>
          <p:cNvGrpSpPr/>
          <p:nvPr/>
        </p:nvGrpSpPr>
        <p:grpSpPr>
          <a:xfrm>
            <a:off x="-3349299" y="-2840784"/>
            <a:ext cx="5114374" cy="4395165"/>
            <a:chOff x="0" y="0"/>
            <a:chExt cx="812800" cy="698500"/>
          </a:xfrm>
        </p:grpSpPr>
        <p:sp>
          <p:nvSpPr>
            <p:cNvPr id="7" name="Freeform 7"/>
            <p:cNvSpPr/>
            <p:nvPr/>
          </p:nvSpPr>
          <p:spPr>
            <a:xfrm>
              <a:off x="6125" y="0"/>
              <a:ext cx="800550" cy="698500"/>
            </a:xfrm>
            <a:custGeom>
              <a:avLst/>
              <a:gdLst/>
              <a:ahLst/>
              <a:cxnLst/>
              <a:rect l="l" t="t" r="r" b="b"/>
              <a:pathLst>
                <a:path w="800550" h="698500">
                  <a:moveTo>
                    <a:pt x="795256" y="368876"/>
                  </a:moveTo>
                  <a:lnTo>
                    <a:pt x="614894" y="678874"/>
                  </a:lnTo>
                  <a:cubicBezTo>
                    <a:pt x="607824" y="691025"/>
                    <a:pt x="594827" y="698500"/>
                    <a:pt x="580769" y="698500"/>
                  </a:cubicBezTo>
                  <a:lnTo>
                    <a:pt x="219781" y="698500"/>
                  </a:lnTo>
                  <a:cubicBezTo>
                    <a:pt x="205723" y="698500"/>
                    <a:pt x="192726" y="691025"/>
                    <a:pt x="185656" y="678874"/>
                  </a:cubicBezTo>
                  <a:lnTo>
                    <a:pt x="5294" y="368876"/>
                  </a:lnTo>
                  <a:cubicBezTo>
                    <a:pt x="-1765" y="356744"/>
                    <a:pt x="-1765" y="341756"/>
                    <a:pt x="5294" y="329624"/>
                  </a:cubicBezTo>
                  <a:lnTo>
                    <a:pt x="185656" y="19626"/>
                  </a:lnTo>
                  <a:cubicBezTo>
                    <a:pt x="192726" y="7475"/>
                    <a:pt x="205723" y="0"/>
                    <a:pt x="219781" y="0"/>
                  </a:cubicBezTo>
                  <a:lnTo>
                    <a:pt x="580769" y="0"/>
                  </a:lnTo>
                  <a:cubicBezTo>
                    <a:pt x="594827" y="0"/>
                    <a:pt x="607824" y="7475"/>
                    <a:pt x="614894" y="19626"/>
                  </a:cubicBezTo>
                  <a:lnTo>
                    <a:pt x="795256" y="329624"/>
                  </a:lnTo>
                  <a:cubicBezTo>
                    <a:pt x="802315" y="341756"/>
                    <a:pt x="802315" y="356744"/>
                    <a:pt x="795256" y="368876"/>
                  </a:cubicBezTo>
                  <a:close/>
                </a:path>
              </a:pathLst>
            </a:custGeom>
            <a:solidFill>
              <a:srgbClr val="148293"/>
            </a:solidFill>
          </p:spPr>
        </p:sp>
        <p:sp>
          <p:nvSpPr>
            <p:cNvPr id="8" name="TextBox 8"/>
            <p:cNvSpPr txBox="1"/>
            <p:nvPr/>
          </p:nvSpPr>
          <p:spPr>
            <a:xfrm>
              <a:off x="114300" y="-66675"/>
              <a:ext cx="584200" cy="765175"/>
            </a:xfrm>
            <a:prstGeom prst="rect">
              <a:avLst/>
            </a:prstGeom>
          </p:spPr>
          <p:txBody>
            <a:bodyPr lIns="50800" tIns="50800" rIns="50800" bIns="50800" rtlCol="0" anchor="ctr"/>
            <a:lstStyle/>
            <a:p>
              <a:pPr algn="ctr">
                <a:lnSpc>
                  <a:spcPts val="3750"/>
                </a:lnSpc>
              </a:pPr>
              <a:endParaRPr/>
            </a:p>
          </p:txBody>
        </p:sp>
      </p:grpSp>
      <p:sp>
        <p:nvSpPr>
          <p:cNvPr id="9" name="Freeform 9"/>
          <p:cNvSpPr/>
          <p:nvPr/>
        </p:nvSpPr>
        <p:spPr>
          <a:xfrm>
            <a:off x="368234" y="385226"/>
            <a:ext cx="899017" cy="732699"/>
          </a:xfrm>
          <a:custGeom>
            <a:avLst/>
            <a:gdLst/>
            <a:ahLst/>
            <a:cxnLst/>
            <a:rect l="l" t="t" r="r" b="b"/>
            <a:pathLst>
              <a:path w="899017" h="732699">
                <a:moveTo>
                  <a:pt x="0" y="0"/>
                </a:moveTo>
                <a:lnTo>
                  <a:pt x="899017" y="0"/>
                </a:lnTo>
                <a:lnTo>
                  <a:pt x="899017" y="732699"/>
                </a:lnTo>
                <a:lnTo>
                  <a:pt x="0" y="7326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333994" y="3754686"/>
            <a:ext cx="2774527" cy="2774527"/>
          </a:xfrm>
          <a:custGeom>
            <a:avLst/>
            <a:gdLst/>
            <a:ahLst/>
            <a:cxnLst/>
            <a:rect l="l" t="t" r="r" b="b"/>
            <a:pathLst>
              <a:path w="2774527" h="2774527">
                <a:moveTo>
                  <a:pt x="0" y="0"/>
                </a:moveTo>
                <a:lnTo>
                  <a:pt x="2774527" y="0"/>
                </a:lnTo>
                <a:lnTo>
                  <a:pt x="2774527" y="2774528"/>
                </a:lnTo>
                <a:lnTo>
                  <a:pt x="0" y="277452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11" name="Group 11"/>
          <p:cNvGrpSpPr/>
          <p:nvPr/>
        </p:nvGrpSpPr>
        <p:grpSpPr>
          <a:xfrm>
            <a:off x="333994" y="3280001"/>
            <a:ext cx="2774527" cy="277452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8293"/>
            </a:solidFill>
          </p:spPr>
        </p:sp>
        <p:sp>
          <p:nvSpPr>
            <p:cNvPr id="13" name="TextBox 13"/>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grpSp>
        <p:nvGrpSpPr>
          <p:cNvPr id="14" name="Group 14"/>
          <p:cNvGrpSpPr/>
          <p:nvPr/>
        </p:nvGrpSpPr>
        <p:grpSpPr>
          <a:xfrm>
            <a:off x="467979" y="3413986"/>
            <a:ext cx="2506558" cy="250655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sp>
        <p:nvSpPr>
          <p:cNvPr id="16" name="Freeform 16"/>
          <p:cNvSpPr/>
          <p:nvPr/>
        </p:nvSpPr>
        <p:spPr>
          <a:xfrm>
            <a:off x="4029150" y="3761542"/>
            <a:ext cx="2774527" cy="2774527"/>
          </a:xfrm>
          <a:custGeom>
            <a:avLst/>
            <a:gdLst/>
            <a:ahLst/>
            <a:cxnLst/>
            <a:rect l="l" t="t" r="r" b="b"/>
            <a:pathLst>
              <a:path w="2774527" h="2774527">
                <a:moveTo>
                  <a:pt x="0" y="0"/>
                </a:moveTo>
                <a:lnTo>
                  <a:pt x="2774527" y="0"/>
                </a:lnTo>
                <a:lnTo>
                  <a:pt x="2774527" y="2774527"/>
                </a:lnTo>
                <a:lnTo>
                  <a:pt x="0" y="27745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17" name="Group 17"/>
          <p:cNvGrpSpPr/>
          <p:nvPr/>
        </p:nvGrpSpPr>
        <p:grpSpPr>
          <a:xfrm>
            <a:off x="4029150" y="3286857"/>
            <a:ext cx="2774527" cy="277452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E9F6"/>
            </a:solidFill>
          </p:spPr>
        </p:sp>
        <p:sp>
          <p:nvSpPr>
            <p:cNvPr id="19" name="TextBox 19"/>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sp>
        <p:nvSpPr>
          <p:cNvPr id="20" name="Freeform 20"/>
          <p:cNvSpPr/>
          <p:nvPr/>
        </p:nvSpPr>
        <p:spPr>
          <a:xfrm>
            <a:off x="7761983" y="3761542"/>
            <a:ext cx="2774527" cy="2774527"/>
          </a:xfrm>
          <a:custGeom>
            <a:avLst/>
            <a:gdLst/>
            <a:ahLst/>
            <a:cxnLst/>
            <a:rect l="l" t="t" r="r" b="b"/>
            <a:pathLst>
              <a:path w="2774527" h="2774527">
                <a:moveTo>
                  <a:pt x="0" y="0"/>
                </a:moveTo>
                <a:lnTo>
                  <a:pt x="2774527" y="0"/>
                </a:lnTo>
                <a:lnTo>
                  <a:pt x="2774527" y="2774527"/>
                </a:lnTo>
                <a:lnTo>
                  <a:pt x="0" y="27745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1" name="Group 21"/>
          <p:cNvGrpSpPr/>
          <p:nvPr/>
        </p:nvGrpSpPr>
        <p:grpSpPr>
          <a:xfrm>
            <a:off x="7761983" y="3286857"/>
            <a:ext cx="2774527" cy="277452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8293"/>
            </a:solidFill>
          </p:spPr>
        </p:sp>
        <p:sp>
          <p:nvSpPr>
            <p:cNvPr id="23" name="TextBox 23"/>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sp>
        <p:nvSpPr>
          <p:cNvPr id="24" name="TextBox 24"/>
          <p:cNvSpPr txBox="1"/>
          <p:nvPr/>
        </p:nvSpPr>
        <p:spPr>
          <a:xfrm>
            <a:off x="11562982" y="6367530"/>
            <a:ext cx="2775001" cy="615553"/>
          </a:xfrm>
          <a:prstGeom prst="rect">
            <a:avLst/>
          </a:prstGeom>
        </p:spPr>
        <p:txBody>
          <a:bodyPr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THAKKAR PANKTI ATULKUMAR</a:t>
            </a:r>
          </a:p>
        </p:txBody>
      </p:sp>
      <p:sp>
        <p:nvSpPr>
          <p:cNvPr id="25" name="Freeform 25"/>
          <p:cNvSpPr/>
          <p:nvPr/>
        </p:nvSpPr>
        <p:spPr>
          <a:xfrm>
            <a:off x="11459734" y="3787919"/>
            <a:ext cx="2774527" cy="2774527"/>
          </a:xfrm>
          <a:custGeom>
            <a:avLst/>
            <a:gdLst/>
            <a:ahLst/>
            <a:cxnLst/>
            <a:rect l="l" t="t" r="r" b="b"/>
            <a:pathLst>
              <a:path w="2774527" h="2774527">
                <a:moveTo>
                  <a:pt x="0" y="0"/>
                </a:moveTo>
                <a:lnTo>
                  <a:pt x="2774527" y="0"/>
                </a:lnTo>
                <a:lnTo>
                  <a:pt x="2774527" y="2774528"/>
                </a:lnTo>
                <a:lnTo>
                  <a:pt x="0" y="277452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dirty="0"/>
          </a:p>
        </p:txBody>
      </p:sp>
      <p:grpSp>
        <p:nvGrpSpPr>
          <p:cNvPr id="26" name="Group 26"/>
          <p:cNvGrpSpPr/>
          <p:nvPr/>
        </p:nvGrpSpPr>
        <p:grpSpPr>
          <a:xfrm>
            <a:off x="11459734" y="3280001"/>
            <a:ext cx="2774527" cy="2774527"/>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E9F6"/>
            </a:solidFill>
          </p:spPr>
        </p:sp>
        <p:sp>
          <p:nvSpPr>
            <p:cNvPr id="28" name="TextBox 28"/>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sp>
        <p:nvSpPr>
          <p:cNvPr id="29" name="Freeform 29"/>
          <p:cNvSpPr/>
          <p:nvPr/>
        </p:nvSpPr>
        <p:spPr>
          <a:xfrm>
            <a:off x="8186161" y="-3719540"/>
            <a:ext cx="1992249" cy="4114800"/>
          </a:xfrm>
          <a:custGeom>
            <a:avLst/>
            <a:gdLst/>
            <a:ahLst/>
            <a:cxnLst/>
            <a:rect l="l" t="t" r="r" b="b"/>
            <a:pathLst>
              <a:path w="1992249" h="4114800">
                <a:moveTo>
                  <a:pt x="0" y="0"/>
                </a:moveTo>
                <a:lnTo>
                  <a:pt x="1992249" y="0"/>
                </a:lnTo>
                <a:lnTo>
                  <a:pt x="1992249"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0" name="TextBox 30"/>
          <p:cNvSpPr txBox="1"/>
          <p:nvPr/>
        </p:nvSpPr>
        <p:spPr>
          <a:xfrm>
            <a:off x="15291584" y="6351201"/>
            <a:ext cx="2775001" cy="615553"/>
          </a:xfrm>
          <a:prstGeom prst="rect">
            <a:avLst/>
          </a:prstGeom>
        </p:spPr>
        <p:txBody>
          <a:bodyPr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PROF.NIKHILKUMAR H. PATEL</a:t>
            </a:r>
          </a:p>
        </p:txBody>
      </p:sp>
      <p:sp>
        <p:nvSpPr>
          <p:cNvPr id="31" name="Freeform 31"/>
          <p:cNvSpPr/>
          <p:nvPr/>
        </p:nvSpPr>
        <p:spPr>
          <a:xfrm>
            <a:off x="15168719" y="3761542"/>
            <a:ext cx="2774527" cy="2774527"/>
          </a:xfrm>
          <a:custGeom>
            <a:avLst/>
            <a:gdLst/>
            <a:ahLst/>
            <a:cxnLst/>
            <a:rect l="l" t="t" r="r" b="b"/>
            <a:pathLst>
              <a:path w="2774527" h="2774527">
                <a:moveTo>
                  <a:pt x="0" y="0"/>
                </a:moveTo>
                <a:lnTo>
                  <a:pt x="2774527" y="0"/>
                </a:lnTo>
                <a:lnTo>
                  <a:pt x="2774527" y="2774527"/>
                </a:lnTo>
                <a:lnTo>
                  <a:pt x="0" y="27745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32" name="Group 32"/>
          <p:cNvGrpSpPr/>
          <p:nvPr/>
        </p:nvGrpSpPr>
        <p:grpSpPr>
          <a:xfrm>
            <a:off x="15168719" y="3286857"/>
            <a:ext cx="2774527" cy="2774527"/>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8293"/>
            </a:solidFill>
          </p:spPr>
        </p:sp>
        <p:sp>
          <p:nvSpPr>
            <p:cNvPr id="34" name="TextBox 34"/>
            <p:cNvSpPr txBox="1"/>
            <p:nvPr/>
          </p:nvSpPr>
          <p:spPr>
            <a:xfrm>
              <a:off x="76200" y="9525"/>
              <a:ext cx="660400" cy="727075"/>
            </a:xfrm>
            <a:prstGeom prst="rect">
              <a:avLst/>
            </a:prstGeom>
          </p:spPr>
          <p:txBody>
            <a:bodyPr lIns="48751" tIns="48751" rIns="48751" bIns="48751" rtlCol="0" anchor="ctr"/>
            <a:lstStyle/>
            <a:p>
              <a:pPr algn="ctr">
                <a:lnSpc>
                  <a:spcPts val="3750"/>
                </a:lnSpc>
              </a:pPr>
              <a:endParaRPr/>
            </a:p>
          </p:txBody>
        </p:sp>
      </p:grpSp>
      <p:grpSp>
        <p:nvGrpSpPr>
          <p:cNvPr id="35" name="Group 35"/>
          <p:cNvGrpSpPr/>
          <p:nvPr/>
        </p:nvGrpSpPr>
        <p:grpSpPr>
          <a:xfrm>
            <a:off x="4163135" y="3420841"/>
            <a:ext cx="2506558" cy="2506558"/>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grpSp>
        <p:nvGrpSpPr>
          <p:cNvPr id="37" name="Group 37"/>
          <p:cNvGrpSpPr/>
          <p:nvPr/>
        </p:nvGrpSpPr>
        <p:grpSpPr>
          <a:xfrm>
            <a:off x="7890721" y="3413986"/>
            <a:ext cx="2506558" cy="2506558"/>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grpSp>
        <p:nvGrpSpPr>
          <p:cNvPr id="39" name="Group 39"/>
          <p:cNvGrpSpPr/>
          <p:nvPr/>
        </p:nvGrpSpPr>
        <p:grpSpPr>
          <a:xfrm>
            <a:off x="11604715" y="3413986"/>
            <a:ext cx="2506558" cy="2506558"/>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grpSp>
        <p:nvGrpSpPr>
          <p:cNvPr id="41" name="Group 41"/>
          <p:cNvGrpSpPr/>
          <p:nvPr/>
        </p:nvGrpSpPr>
        <p:grpSpPr>
          <a:xfrm>
            <a:off x="15280424" y="3413986"/>
            <a:ext cx="2506558" cy="2506558"/>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13848" t="-59744" r="-184155" b="-104430"/>
              </a:stretch>
            </a:blipFill>
            <a:ln w="76200" cap="sq">
              <a:solidFill>
                <a:srgbClr val="FFFFFF"/>
              </a:solidFill>
              <a:prstDash val="solid"/>
              <a:miter/>
            </a:ln>
          </p:spPr>
        </p:sp>
      </p:grpSp>
      <p:sp>
        <p:nvSpPr>
          <p:cNvPr id="43" name="TextBox 43"/>
          <p:cNvSpPr txBox="1"/>
          <p:nvPr/>
        </p:nvSpPr>
        <p:spPr>
          <a:xfrm>
            <a:off x="3111500" y="1281085"/>
            <a:ext cx="12065000" cy="1000125"/>
          </a:xfrm>
          <a:prstGeom prst="rect">
            <a:avLst/>
          </a:prstGeom>
        </p:spPr>
        <p:txBody>
          <a:bodyPr lIns="0" tIns="0" rIns="0" bIns="0" rtlCol="0" anchor="t">
            <a:spAutoFit/>
          </a:bodyPr>
          <a:lstStyle/>
          <a:p>
            <a:pPr algn="ctr">
              <a:lnSpc>
                <a:spcPts val="7800"/>
              </a:lnSpc>
            </a:pPr>
            <a:r>
              <a:rPr lang="en-US" sz="6500" b="1">
                <a:solidFill>
                  <a:srgbClr val="23403D"/>
                </a:solidFill>
                <a:latin typeface="TT Norms Bold"/>
                <a:ea typeface="TT Norms Bold"/>
                <a:cs typeface="TT Norms Bold"/>
                <a:sym typeface="TT Norms Bold"/>
              </a:rPr>
              <a:t>TEAM DETAILS</a:t>
            </a:r>
          </a:p>
        </p:txBody>
      </p:sp>
      <p:sp>
        <p:nvSpPr>
          <p:cNvPr id="44" name="TextBox 44"/>
          <p:cNvSpPr txBox="1"/>
          <p:nvPr/>
        </p:nvSpPr>
        <p:spPr>
          <a:xfrm>
            <a:off x="263303" y="7056404"/>
            <a:ext cx="2774054" cy="313547"/>
          </a:xfrm>
          <a:prstGeom prst="rect">
            <a:avLst/>
          </a:prstGeom>
        </p:spPr>
        <p:txBody>
          <a:bodyPr lIns="0" tIns="0" rIns="0" bIns="0" rtlCol="0" anchor="t">
            <a:spAutoFit/>
          </a:bodyPr>
          <a:lstStyle/>
          <a:p>
            <a:pPr algn="ctr">
              <a:lnSpc>
                <a:spcPts val="2303"/>
              </a:lnSpc>
            </a:pPr>
            <a:r>
              <a:rPr lang="en-US" sz="2400" b="1" i="1" spc="30" dirty="0">
                <a:solidFill>
                  <a:srgbClr val="1D7363"/>
                </a:solidFill>
                <a:latin typeface="TT Norms Bold Italics"/>
                <a:ea typeface="TT Norms Bold Italics"/>
                <a:cs typeface="TT Norms Bold Italics"/>
                <a:sym typeface="TT Norms Bold Italics"/>
              </a:rPr>
              <a:t>Team </a:t>
            </a:r>
            <a:r>
              <a:rPr lang="en-US" sz="2000" b="1" i="1" spc="30" dirty="0">
                <a:solidFill>
                  <a:srgbClr val="1D7363"/>
                </a:solidFill>
                <a:latin typeface="TT Norms Bold Italics"/>
                <a:ea typeface="TT Norms Bold Italics"/>
                <a:cs typeface="TT Norms Bold Italics"/>
                <a:sym typeface="TT Norms Bold Italics"/>
              </a:rPr>
              <a:t>Leader</a:t>
            </a:r>
            <a:endParaRPr lang="en-US" sz="2400" b="1" i="1" spc="30" dirty="0">
              <a:solidFill>
                <a:srgbClr val="1D7363"/>
              </a:solidFill>
              <a:latin typeface="TT Norms Bold Italics"/>
              <a:ea typeface="TT Norms Bold Italics"/>
              <a:cs typeface="TT Norms Bold Italics"/>
              <a:sym typeface="TT Norms Bold Italics"/>
            </a:endParaRPr>
          </a:p>
        </p:txBody>
      </p:sp>
      <p:sp>
        <p:nvSpPr>
          <p:cNvPr id="45" name="TextBox 45"/>
          <p:cNvSpPr txBox="1"/>
          <p:nvPr/>
        </p:nvSpPr>
        <p:spPr>
          <a:xfrm>
            <a:off x="333520" y="6369961"/>
            <a:ext cx="2775001" cy="584775"/>
          </a:xfrm>
          <a:prstGeom prst="rect">
            <a:avLst/>
          </a:prstGeom>
        </p:spPr>
        <p:txBody>
          <a:bodyPr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VACHHANI</a:t>
            </a:r>
            <a:r>
              <a:rPr lang="en-US" b="1" spc="47" dirty="0">
                <a:solidFill>
                  <a:srgbClr val="23403D"/>
                </a:solidFill>
                <a:latin typeface="TT Norms Bold"/>
                <a:ea typeface="TT Norms Bold"/>
                <a:cs typeface="TT Norms Bold"/>
                <a:sym typeface="TT Norms Bold"/>
              </a:rPr>
              <a:t> PRAZAL KAUSHIKBHAI</a:t>
            </a:r>
          </a:p>
        </p:txBody>
      </p:sp>
      <p:sp>
        <p:nvSpPr>
          <p:cNvPr id="46" name="TextBox 46"/>
          <p:cNvSpPr txBox="1"/>
          <p:nvPr/>
        </p:nvSpPr>
        <p:spPr>
          <a:xfrm>
            <a:off x="350502" y="7418648"/>
            <a:ext cx="2775001" cy="1026050"/>
          </a:xfrm>
          <a:prstGeom prst="rect">
            <a:avLst/>
          </a:prstGeom>
        </p:spPr>
        <p:txBody>
          <a:bodyPr lIns="0" tIns="0" rIns="0" bIns="0" rtlCol="0" anchor="t">
            <a:spAutoFit/>
          </a:bodyPr>
          <a:lstStyle/>
          <a:p>
            <a:pPr algn="ctr">
              <a:lnSpc>
                <a:spcPts val="2687"/>
              </a:lnSpc>
            </a:pPr>
            <a:r>
              <a:rPr lang="en-US" sz="1919" spc="9" dirty="0">
                <a:solidFill>
                  <a:srgbClr val="23403D"/>
                </a:solidFill>
                <a:latin typeface="TT Norms"/>
                <a:ea typeface="TT Norms"/>
                <a:cs typeface="TT Norms"/>
                <a:sym typeface="TT Norms"/>
              </a:rPr>
              <a:t>24BEEC30050</a:t>
            </a:r>
          </a:p>
          <a:p>
            <a:pPr algn="ctr">
              <a:lnSpc>
                <a:spcPts val="2687"/>
              </a:lnSpc>
            </a:pPr>
            <a:r>
              <a:rPr lang="en-US" sz="1919" spc="9" dirty="0">
                <a:solidFill>
                  <a:srgbClr val="23403D"/>
                </a:solidFill>
                <a:latin typeface="TT Norms"/>
                <a:ea typeface="TT Norms"/>
                <a:cs typeface="TT Norms"/>
                <a:sym typeface="TT Norms"/>
              </a:rPr>
              <a:t>BE-EC, LDRP-ITR,</a:t>
            </a:r>
          </a:p>
          <a:p>
            <a:pPr algn="ctr">
              <a:lnSpc>
                <a:spcPts val="2687"/>
              </a:lnSpc>
            </a:pPr>
            <a:r>
              <a:rPr lang="en-US" sz="1919" spc="9" dirty="0">
                <a:solidFill>
                  <a:srgbClr val="23403D"/>
                </a:solidFill>
                <a:latin typeface="TT Norms"/>
                <a:ea typeface="TT Norms"/>
                <a:cs typeface="TT Norms"/>
                <a:sym typeface="TT Norms"/>
              </a:rPr>
              <a:t>KSV</a:t>
            </a:r>
          </a:p>
        </p:txBody>
      </p:sp>
      <p:sp>
        <p:nvSpPr>
          <p:cNvPr id="47" name="TextBox 47"/>
          <p:cNvSpPr txBox="1"/>
          <p:nvPr/>
        </p:nvSpPr>
        <p:spPr>
          <a:xfrm>
            <a:off x="4163135" y="7056404"/>
            <a:ext cx="2774054" cy="298159"/>
          </a:xfrm>
          <a:prstGeom prst="rect">
            <a:avLst/>
          </a:prstGeom>
        </p:spPr>
        <p:txBody>
          <a:bodyPr lIns="0" tIns="0" rIns="0" bIns="0" rtlCol="0" anchor="t">
            <a:spAutoFit/>
          </a:bodyPr>
          <a:lstStyle/>
          <a:p>
            <a:pPr algn="ctr">
              <a:lnSpc>
                <a:spcPts val="2303"/>
              </a:lnSpc>
            </a:pPr>
            <a:r>
              <a:rPr lang="en-US" sz="2000" b="1" i="1" spc="30" dirty="0">
                <a:solidFill>
                  <a:srgbClr val="1D7363"/>
                </a:solidFill>
                <a:latin typeface="TT Norms Bold Italics"/>
                <a:ea typeface="TT Norms Bold Italics"/>
                <a:cs typeface="TT Norms Bold Italics"/>
                <a:sym typeface="TT Norms Bold Italics"/>
              </a:rPr>
              <a:t>Co-Team Leader</a:t>
            </a:r>
          </a:p>
        </p:txBody>
      </p:sp>
      <p:sp>
        <p:nvSpPr>
          <p:cNvPr id="48" name="TextBox 48"/>
          <p:cNvSpPr txBox="1"/>
          <p:nvPr/>
        </p:nvSpPr>
        <p:spPr>
          <a:xfrm>
            <a:off x="4109124" y="6369960"/>
            <a:ext cx="2729161" cy="584775"/>
          </a:xfrm>
          <a:prstGeom prst="rect">
            <a:avLst/>
          </a:prstGeom>
        </p:spPr>
        <p:txBody>
          <a:bodyPr wrap="square"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PATEL RAJVI </a:t>
            </a:r>
            <a:r>
              <a:rPr lang="en-US" b="1" spc="47" dirty="0">
                <a:solidFill>
                  <a:srgbClr val="23403D"/>
                </a:solidFill>
                <a:latin typeface="TT Norms Bold"/>
                <a:ea typeface="TT Norms Bold"/>
                <a:cs typeface="TT Norms Bold"/>
                <a:sym typeface="TT Norms Bold"/>
              </a:rPr>
              <a:t>ASHVINKUMAR</a:t>
            </a:r>
            <a:endParaRPr lang="en-US" sz="2000" b="1" spc="47" dirty="0">
              <a:solidFill>
                <a:srgbClr val="23403D"/>
              </a:solidFill>
              <a:latin typeface="TT Norms Bold"/>
              <a:ea typeface="TT Norms Bold"/>
              <a:cs typeface="TT Norms Bold"/>
              <a:sym typeface="TT Norms Bold"/>
            </a:endParaRPr>
          </a:p>
        </p:txBody>
      </p:sp>
      <p:sp>
        <p:nvSpPr>
          <p:cNvPr id="49" name="TextBox 49"/>
          <p:cNvSpPr txBox="1"/>
          <p:nvPr/>
        </p:nvSpPr>
        <p:spPr>
          <a:xfrm>
            <a:off x="4163135" y="7369951"/>
            <a:ext cx="2775001" cy="1026050"/>
          </a:xfrm>
          <a:prstGeom prst="rect">
            <a:avLst/>
          </a:prstGeom>
        </p:spPr>
        <p:txBody>
          <a:bodyPr lIns="0" tIns="0" rIns="0" bIns="0" rtlCol="0" anchor="t">
            <a:spAutoFit/>
          </a:bodyPr>
          <a:lstStyle/>
          <a:p>
            <a:pPr algn="ctr">
              <a:lnSpc>
                <a:spcPts val="2687"/>
              </a:lnSpc>
            </a:pPr>
            <a:r>
              <a:rPr lang="en-US" sz="1919" spc="9" dirty="0">
                <a:solidFill>
                  <a:srgbClr val="23403D"/>
                </a:solidFill>
                <a:latin typeface="TT Norms"/>
                <a:ea typeface="TT Norms"/>
                <a:cs typeface="TT Norms"/>
                <a:sym typeface="TT Norms"/>
              </a:rPr>
              <a:t>24BEEC30032</a:t>
            </a:r>
          </a:p>
          <a:p>
            <a:pPr algn="ctr">
              <a:lnSpc>
                <a:spcPts val="2687"/>
              </a:lnSpc>
            </a:pPr>
            <a:r>
              <a:rPr lang="en-US" sz="1919" spc="9" dirty="0">
                <a:solidFill>
                  <a:srgbClr val="23403D"/>
                </a:solidFill>
                <a:latin typeface="TT Norms"/>
                <a:ea typeface="TT Norms"/>
                <a:cs typeface="TT Norms"/>
                <a:sym typeface="TT Norms"/>
              </a:rPr>
              <a:t>BE-EC, LDRP-ITR,</a:t>
            </a:r>
          </a:p>
          <a:p>
            <a:pPr algn="ctr">
              <a:lnSpc>
                <a:spcPts val="2687"/>
              </a:lnSpc>
            </a:pPr>
            <a:r>
              <a:rPr lang="en-US" sz="1919" spc="9" dirty="0">
                <a:solidFill>
                  <a:srgbClr val="23403D"/>
                </a:solidFill>
                <a:latin typeface="TT Norms"/>
                <a:ea typeface="TT Norms"/>
                <a:cs typeface="TT Norms"/>
                <a:sym typeface="TT Norms"/>
              </a:rPr>
              <a:t> KSV</a:t>
            </a:r>
          </a:p>
        </p:txBody>
      </p:sp>
      <p:sp>
        <p:nvSpPr>
          <p:cNvPr id="50" name="TextBox 50"/>
          <p:cNvSpPr txBox="1"/>
          <p:nvPr/>
        </p:nvSpPr>
        <p:spPr>
          <a:xfrm>
            <a:off x="7778131" y="6343303"/>
            <a:ext cx="2819895" cy="584775"/>
          </a:xfrm>
          <a:prstGeom prst="rect">
            <a:avLst/>
          </a:prstGeom>
        </p:spPr>
        <p:txBody>
          <a:bodyPr wrap="square" lIns="0" tIns="0" rIns="0" bIns="0" rtlCol="0" anchor="t">
            <a:spAutoFit/>
          </a:bodyPr>
          <a:lstStyle/>
          <a:p>
            <a:pPr algn="ctr"/>
            <a:r>
              <a:rPr lang="en-US" sz="2000" b="1" spc="47" dirty="0">
                <a:solidFill>
                  <a:srgbClr val="23403D"/>
                </a:solidFill>
                <a:latin typeface="TT Norms Bold"/>
                <a:ea typeface="TT Norms Bold"/>
                <a:cs typeface="TT Norms Bold"/>
                <a:sym typeface="TT Norms Bold"/>
              </a:rPr>
              <a:t>HADIYA</a:t>
            </a:r>
            <a:r>
              <a:rPr lang="en-US" b="1" spc="47" dirty="0">
                <a:solidFill>
                  <a:srgbClr val="23403D"/>
                </a:solidFill>
                <a:latin typeface="TT Norms Bold"/>
                <a:ea typeface="TT Norms Bold"/>
                <a:cs typeface="TT Norms Bold"/>
                <a:sym typeface="TT Norms Bold"/>
              </a:rPr>
              <a:t> PRIYANK NAVIN</a:t>
            </a:r>
          </a:p>
        </p:txBody>
      </p:sp>
      <p:sp>
        <p:nvSpPr>
          <p:cNvPr id="51" name="TextBox 51"/>
          <p:cNvSpPr txBox="1"/>
          <p:nvPr/>
        </p:nvSpPr>
        <p:spPr>
          <a:xfrm>
            <a:off x="7796662" y="6987046"/>
            <a:ext cx="2774054" cy="298159"/>
          </a:xfrm>
          <a:prstGeom prst="rect">
            <a:avLst/>
          </a:prstGeom>
        </p:spPr>
        <p:txBody>
          <a:bodyPr lIns="0" tIns="0" rIns="0" bIns="0" rtlCol="0" anchor="t">
            <a:spAutoFit/>
          </a:bodyPr>
          <a:lstStyle/>
          <a:p>
            <a:pPr algn="ctr">
              <a:lnSpc>
                <a:spcPts val="2303"/>
              </a:lnSpc>
            </a:pPr>
            <a:r>
              <a:rPr lang="en-US" sz="2000" b="1" i="1" spc="30" dirty="0">
                <a:solidFill>
                  <a:srgbClr val="1D7363"/>
                </a:solidFill>
                <a:latin typeface="TT Norms Bold Italics"/>
                <a:ea typeface="TT Norms Bold Italics"/>
                <a:cs typeface="TT Norms Bold Italics"/>
                <a:sym typeface="TT Norms Bold Italics"/>
              </a:rPr>
              <a:t>Team Member</a:t>
            </a:r>
          </a:p>
        </p:txBody>
      </p:sp>
      <p:sp>
        <p:nvSpPr>
          <p:cNvPr id="52" name="TextBox 52"/>
          <p:cNvSpPr txBox="1"/>
          <p:nvPr/>
        </p:nvSpPr>
        <p:spPr>
          <a:xfrm>
            <a:off x="7841180" y="7297971"/>
            <a:ext cx="2775001" cy="1026050"/>
          </a:xfrm>
          <a:prstGeom prst="rect">
            <a:avLst/>
          </a:prstGeom>
        </p:spPr>
        <p:txBody>
          <a:bodyPr lIns="0" tIns="0" rIns="0" bIns="0" rtlCol="0" anchor="t">
            <a:spAutoFit/>
          </a:bodyPr>
          <a:lstStyle/>
          <a:p>
            <a:pPr algn="ctr">
              <a:lnSpc>
                <a:spcPts val="2687"/>
              </a:lnSpc>
            </a:pPr>
            <a:r>
              <a:rPr lang="en-US" sz="1919" spc="9" dirty="0">
                <a:solidFill>
                  <a:srgbClr val="23403D"/>
                </a:solidFill>
                <a:latin typeface="TT Norms"/>
                <a:ea typeface="TT Norms"/>
                <a:cs typeface="TT Norms"/>
                <a:sym typeface="TT Norms"/>
              </a:rPr>
              <a:t>24BEEC30007</a:t>
            </a:r>
          </a:p>
          <a:p>
            <a:pPr algn="ctr">
              <a:lnSpc>
                <a:spcPts val="2687"/>
              </a:lnSpc>
            </a:pPr>
            <a:r>
              <a:rPr lang="en-US" sz="1919" spc="9" dirty="0">
                <a:solidFill>
                  <a:srgbClr val="23403D"/>
                </a:solidFill>
                <a:latin typeface="TT Norms"/>
                <a:ea typeface="TT Norms"/>
                <a:cs typeface="TT Norms"/>
                <a:sym typeface="TT Norms"/>
              </a:rPr>
              <a:t>BE-EC, LDRP-ITR,</a:t>
            </a:r>
          </a:p>
          <a:p>
            <a:pPr algn="ctr">
              <a:lnSpc>
                <a:spcPts val="2687"/>
              </a:lnSpc>
            </a:pPr>
            <a:r>
              <a:rPr lang="en-US" sz="1919" spc="9" dirty="0">
                <a:solidFill>
                  <a:srgbClr val="23403D"/>
                </a:solidFill>
                <a:latin typeface="TT Norms"/>
                <a:ea typeface="TT Norms"/>
                <a:cs typeface="TT Norms"/>
                <a:sym typeface="TT Norms"/>
              </a:rPr>
              <a:t> KSV</a:t>
            </a:r>
          </a:p>
        </p:txBody>
      </p:sp>
      <p:sp>
        <p:nvSpPr>
          <p:cNvPr id="53" name="TextBox 53"/>
          <p:cNvSpPr txBox="1"/>
          <p:nvPr/>
        </p:nvSpPr>
        <p:spPr>
          <a:xfrm>
            <a:off x="11583072" y="6997357"/>
            <a:ext cx="2774054" cy="298159"/>
          </a:xfrm>
          <a:prstGeom prst="rect">
            <a:avLst/>
          </a:prstGeom>
        </p:spPr>
        <p:txBody>
          <a:bodyPr lIns="0" tIns="0" rIns="0" bIns="0" rtlCol="0" anchor="t">
            <a:spAutoFit/>
          </a:bodyPr>
          <a:lstStyle/>
          <a:p>
            <a:pPr algn="ctr">
              <a:lnSpc>
                <a:spcPts val="2303"/>
              </a:lnSpc>
            </a:pPr>
            <a:r>
              <a:rPr lang="en-US" sz="2000" b="1" i="1" spc="30" dirty="0">
                <a:solidFill>
                  <a:srgbClr val="1D7363"/>
                </a:solidFill>
                <a:latin typeface="TT Norms Bold Italics"/>
                <a:ea typeface="TT Norms Bold Italics"/>
                <a:cs typeface="TT Norms Bold Italics"/>
                <a:sym typeface="TT Norms Bold Italics"/>
              </a:rPr>
              <a:t>Team Member</a:t>
            </a:r>
          </a:p>
        </p:txBody>
      </p:sp>
      <p:sp>
        <p:nvSpPr>
          <p:cNvPr id="54" name="TextBox 54"/>
          <p:cNvSpPr txBox="1"/>
          <p:nvPr/>
        </p:nvSpPr>
        <p:spPr>
          <a:xfrm>
            <a:off x="11673499" y="7297971"/>
            <a:ext cx="2775001" cy="1026050"/>
          </a:xfrm>
          <a:prstGeom prst="rect">
            <a:avLst/>
          </a:prstGeom>
        </p:spPr>
        <p:txBody>
          <a:bodyPr lIns="0" tIns="0" rIns="0" bIns="0" rtlCol="0" anchor="t">
            <a:spAutoFit/>
          </a:bodyPr>
          <a:lstStyle/>
          <a:p>
            <a:pPr algn="ctr">
              <a:lnSpc>
                <a:spcPts val="2687"/>
              </a:lnSpc>
            </a:pPr>
            <a:r>
              <a:rPr lang="en-US" sz="1919" spc="9" dirty="0">
                <a:solidFill>
                  <a:srgbClr val="23403D"/>
                </a:solidFill>
                <a:latin typeface="TT Norms"/>
                <a:ea typeface="TT Norms"/>
                <a:cs typeface="TT Norms"/>
                <a:sym typeface="TT Norms"/>
              </a:rPr>
              <a:t>24BEEC30049</a:t>
            </a:r>
          </a:p>
          <a:p>
            <a:pPr algn="ctr">
              <a:lnSpc>
                <a:spcPts val="2687"/>
              </a:lnSpc>
            </a:pPr>
            <a:r>
              <a:rPr lang="en-US" sz="1919" spc="9" dirty="0">
                <a:solidFill>
                  <a:srgbClr val="23403D"/>
                </a:solidFill>
                <a:latin typeface="TT Norms"/>
                <a:ea typeface="TT Norms"/>
                <a:cs typeface="TT Norms"/>
                <a:sym typeface="TT Norms"/>
              </a:rPr>
              <a:t>BE-EC, LDRP-ITR,</a:t>
            </a:r>
          </a:p>
          <a:p>
            <a:pPr algn="ctr">
              <a:lnSpc>
                <a:spcPts val="2687"/>
              </a:lnSpc>
            </a:pPr>
            <a:r>
              <a:rPr lang="en-US" sz="1919" spc="9" dirty="0">
                <a:solidFill>
                  <a:srgbClr val="23403D"/>
                </a:solidFill>
                <a:latin typeface="TT Norms"/>
                <a:ea typeface="TT Norms"/>
                <a:cs typeface="TT Norms"/>
                <a:sym typeface="TT Norms"/>
              </a:rPr>
              <a:t> KSV</a:t>
            </a:r>
          </a:p>
        </p:txBody>
      </p:sp>
      <p:sp>
        <p:nvSpPr>
          <p:cNvPr id="55" name="TextBox 55"/>
          <p:cNvSpPr txBox="1"/>
          <p:nvPr/>
        </p:nvSpPr>
        <p:spPr>
          <a:xfrm>
            <a:off x="15206789" y="6984927"/>
            <a:ext cx="2774054" cy="298159"/>
          </a:xfrm>
          <a:prstGeom prst="rect">
            <a:avLst/>
          </a:prstGeom>
        </p:spPr>
        <p:txBody>
          <a:bodyPr lIns="0" tIns="0" rIns="0" bIns="0" rtlCol="0" anchor="t">
            <a:spAutoFit/>
          </a:bodyPr>
          <a:lstStyle/>
          <a:p>
            <a:pPr algn="ctr">
              <a:lnSpc>
                <a:spcPts val="2303"/>
              </a:lnSpc>
            </a:pPr>
            <a:r>
              <a:rPr lang="en-US" sz="2000" b="1" i="1" spc="30" dirty="0">
                <a:solidFill>
                  <a:srgbClr val="1D7363"/>
                </a:solidFill>
                <a:latin typeface="TT Norms Bold Italics"/>
                <a:ea typeface="TT Norms Bold Italics"/>
                <a:cs typeface="TT Norms Bold Italics"/>
                <a:sym typeface="TT Norms Bold Italics"/>
              </a:rPr>
              <a:t>Guide</a:t>
            </a:r>
          </a:p>
        </p:txBody>
      </p:sp>
      <p:sp>
        <p:nvSpPr>
          <p:cNvPr id="56" name="TextBox 56"/>
          <p:cNvSpPr txBox="1"/>
          <p:nvPr/>
        </p:nvSpPr>
        <p:spPr>
          <a:xfrm>
            <a:off x="15352491" y="7245963"/>
            <a:ext cx="2775001" cy="1026050"/>
          </a:xfrm>
          <a:prstGeom prst="rect">
            <a:avLst/>
          </a:prstGeom>
        </p:spPr>
        <p:txBody>
          <a:bodyPr lIns="0" tIns="0" rIns="0" bIns="0" rtlCol="0" anchor="t">
            <a:spAutoFit/>
          </a:bodyPr>
          <a:lstStyle/>
          <a:p>
            <a:pPr algn="ctr">
              <a:lnSpc>
                <a:spcPts val="2687"/>
              </a:lnSpc>
            </a:pPr>
            <a:r>
              <a:rPr lang="en-US" sz="1919" spc="9" dirty="0">
                <a:solidFill>
                  <a:srgbClr val="23403D"/>
                </a:solidFill>
                <a:latin typeface="TT Norms"/>
                <a:ea typeface="TT Norms"/>
                <a:cs typeface="TT Norms"/>
                <a:sym typeface="TT Norms"/>
              </a:rPr>
              <a:t>EC DEPARTMENT, LDRP-ITR,</a:t>
            </a:r>
          </a:p>
          <a:p>
            <a:pPr algn="ctr">
              <a:lnSpc>
                <a:spcPts val="2687"/>
              </a:lnSpc>
            </a:pPr>
            <a:r>
              <a:rPr lang="en-US" sz="1919" spc="9" dirty="0">
                <a:solidFill>
                  <a:srgbClr val="23403D"/>
                </a:solidFill>
                <a:latin typeface="TT Norms"/>
                <a:ea typeface="TT Norms"/>
                <a:cs typeface="TT Norms"/>
                <a:sym typeface="TT Norms"/>
              </a:rPr>
              <a:t> KSV</a:t>
            </a:r>
          </a:p>
        </p:txBody>
      </p:sp>
      <p:sp>
        <p:nvSpPr>
          <p:cNvPr id="57" name="TextBox 57"/>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2</a:t>
            </a:r>
          </a:p>
        </p:txBody>
      </p:sp>
      <p:sp>
        <p:nvSpPr>
          <p:cNvPr id="58" name="Freeform 58"/>
          <p:cNvSpPr/>
          <p:nvPr/>
        </p:nvSpPr>
        <p:spPr>
          <a:xfrm>
            <a:off x="16271287" y="0"/>
            <a:ext cx="2016713" cy="2016713"/>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16"/>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0958" y="-2350439"/>
            <a:ext cx="18379715" cy="3378674"/>
            <a:chOff x="0" y="0"/>
            <a:chExt cx="1673415" cy="307618"/>
          </a:xfrm>
        </p:grpSpPr>
        <p:sp>
          <p:nvSpPr>
            <p:cNvPr id="3" name="Freeform 3"/>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4" name="TextBox 4"/>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5" name="Freeform 5"/>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371600" y="56635"/>
            <a:ext cx="10388600" cy="955675"/>
          </a:xfrm>
          <a:prstGeom prst="rect">
            <a:avLst/>
          </a:prstGeom>
        </p:spPr>
        <p:txBody>
          <a:bodyPr lIns="0" tIns="0" rIns="0" bIns="0" rtlCol="0" anchor="t">
            <a:spAutoFit/>
          </a:bodyPr>
          <a:lstStyle/>
          <a:p>
            <a:pPr algn="l">
              <a:lnSpc>
                <a:spcPts val="7474"/>
              </a:lnSpc>
            </a:pPr>
            <a:r>
              <a:rPr lang="en-US" sz="6499" b="1" dirty="0">
                <a:solidFill>
                  <a:srgbClr val="FFFFFF"/>
                </a:solidFill>
                <a:latin typeface="TT Norms Bold"/>
                <a:ea typeface="TT Norms Bold"/>
                <a:cs typeface="TT Norms Bold"/>
                <a:sym typeface="TT Norms Bold"/>
              </a:rPr>
              <a:t>IDEA DETAILS</a:t>
            </a:r>
          </a:p>
        </p:txBody>
      </p:sp>
      <p:sp>
        <p:nvSpPr>
          <p:cNvPr id="7" name="TextBox 7"/>
          <p:cNvSpPr txBox="1"/>
          <p:nvPr/>
        </p:nvSpPr>
        <p:spPr>
          <a:xfrm>
            <a:off x="-708678" y="1450474"/>
            <a:ext cx="18288000" cy="880113"/>
          </a:xfrm>
          <a:prstGeom prst="rect">
            <a:avLst/>
          </a:prstGeom>
        </p:spPr>
        <p:txBody>
          <a:bodyPr wrap="square" lIns="0" tIns="0" rIns="0" bIns="0" rtlCol="0" anchor="ctr">
            <a:spAutoFit/>
          </a:bodyPr>
          <a:lstStyle/>
          <a:p>
            <a:pPr algn="ctr">
              <a:spcBef>
                <a:spcPct val="0"/>
              </a:spcBef>
            </a:pPr>
            <a:endParaRPr lang="en-US" sz="5719" b="1" dirty="0">
              <a:solidFill>
                <a:srgbClr val="23403D"/>
              </a:solidFill>
              <a:latin typeface="TT Norms Bold"/>
              <a:ea typeface="TT Norms Bold"/>
              <a:cs typeface="TT Norms Bold"/>
              <a:sym typeface="TT Norms Bold"/>
            </a:endParaRPr>
          </a:p>
        </p:txBody>
      </p:sp>
      <p:sp>
        <p:nvSpPr>
          <p:cNvPr id="8" name="TextBox 8"/>
          <p:cNvSpPr txBox="1"/>
          <p:nvPr/>
        </p:nvSpPr>
        <p:spPr>
          <a:xfrm>
            <a:off x="17579322" y="9847670"/>
            <a:ext cx="325864" cy="268792"/>
          </a:xfrm>
          <a:prstGeom prst="rect">
            <a:avLst/>
          </a:prstGeom>
        </p:spPr>
        <p:txBody>
          <a:bodyPr wrap="square" lIns="0" tIns="0" rIns="0" bIns="0" rtlCol="0" anchor="t">
            <a:spAutoFit/>
          </a:bodyPr>
          <a:lstStyle/>
          <a:p>
            <a:pPr algn="r">
              <a:lnSpc>
                <a:spcPts val="1987"/>
              </a:lnSpc>
            </a:pPr>
            <a:r>
              <a:rPr lang="en-US" sz="1987" b="1" dirty="0">
                <a:solidFill>
                  <a:srgbClr val="23403D"/>
                </a:solidFill>
                <a:latin typeface="TT Norms Bold"/>
                <a:ea typeface="TT Norms Bold"/>
                <a:cs typeface="TT Norms Bold"/>
                <a:sym typeface="TT Norms Bold"/>
              </a:rPr>
              <a:t>3</a:t>
            </a:r>
          </a:p>
        </p:txBody>
      </p:sp>
      <p:sp>
        <p:nvSpPr>
          <p:cNvPr id="9" name="Freeform 9"/>
          <p:cNvSpPr/>
          <p:nvPr/>
        </p:nvSpPr>
        <p:spPr>
          <a:xfrm>
            <a:off x="16595029" y="-34141"/>
            <a:ext cx="1679549" cy="1520825"/>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11" name="TextBox 10">
            <a:extLst>
              <a:ext uri="{FF2B5EF4-FFF2-40B4-BE49-F238E27FC236}">
                <a16:creationId xmlns:a16="http://schemas.microsoft.com/office/drawing/2014/main" id="{D98281F3-B01F-D031-909C-53A272DEE1F7}"/>
              </a:ext>
            </a:extLst>
          </p:cNvPr>
          <p:cNvSpPr txBox="1"/>
          <p:nvPr/>
        </p:nvSpPr>
        <p:spPr>
          <a:xfrm>
            <a:off x="379186" y="1131748"/>
            <a:ext cx="8800429" cy="415498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342900" indent="-342900" algn="just">
              <a:buFont typeface="Wingdings" panose="05000000000000000000" pitchFamily="2" charset="2"/>
              <a:buChar char="q"/>
            </a:pPr>
            <a:r>
              <a:rPr lang="en-IN" sz="2400" dirty="0">
                <a:solidFill>
                  <a:schemeClr val="tx1"/>
                </a:solidFill>
                <a:highlight>
                  <a:srgbClr val="419AA8"/>
                </a:highlight>
                <a:latin typeface="TT Norms Bold" panose="020B0604020202020204" charset="0"/>
                <a:cs typeface="Arial" panose="020B0604020202020204" pitchFamily="34" charset="0"/>
              </a:rPr>
              <a:t>Clear explanation of the idea and how the solution works:</a:t>
            </a:r>
          </a:p>
          <a:p>
            <a:pPr algn="just"/>
            <a:r>
              <a:rPr lang="en-US" sz="2400" dirty="0">
                <a:solidFill>
                  <a:schemeClr val="tx1"/>
                </a:solidFill>
                <a:latin typeface="Arial" panose="020B0604020202020204" pitchFamily="34" charset="0"/>
                <a:cs typeface="Arial" panose="020B0604020202020204" pitchFamily="34" charset="0"/>
              </a:rPr>
              <a:t>            </a:t>
            </a:r>
            <a:r>
              <a:rPr lang="en-US" sz="2400" b="1" dirty="0">
                <a:solidFill>
                  <a:schemeClr val="tx1"/>
                </a:solidFill>
                <a:latin typeface="Arial" panose="020B0604020202020204" pitchFamily="34" charset="0"/>
                <a:cs typeface="Arial" panose="020B0604020202020204" pitchFamily="34" charset="0"/>
              </a:rPr>
              <a:t>A smart IoT-based </a:t>
            </a:r>
            <a:r>
              <a:rPr lang="en-US" sz="2400" dirty="0">
                <a:solidFill>
                  <a:schemeClr val="tx1"/>
                </a:solidFill>
                <a:latin typeface="Arial" panose="020B0604020202020204" pitchFamily="34" charset="0"/>
                <a:cs typeface="Arial" panose="020B0604020202020204" pitchFamily="34" charset="0"/>
              </a:rPr>
              <a:t>motor health monitoring system continuously tracks motor condition using </a:t>
            </a:r>
            <a:r>
              <a:rPr lang="en-US" sz="2400" b="1" dirty="0">
                <a:solidFill>
                  <a:schemeClr val="tx1"/>
                </a:solidFill>
                <a:latin typeface="Arial" panose="020B0604020202020204" pitchFamily="34" charset="0"/>
                <a:cs typeface="Arial" panose="020B0604020202020204" pitchFamily="34" charset="0"/>
              </a:rPr>
              <a:t>six sensors—current, voltage, stator and bearing temperature, vibration, and RPM.</a:t>
            </a:r>
            <a:r>
              <a:rPr lang="en-US" sz="2400" dirty="0">
                <a:solidFill>
                  <a:schemeClr val="tx1"/>
                </a:solidFill>
                <a:latin typeface="Arial" panose="020B0604020202020204" pitchFamily="34" charset="0"/>
                <a:cs typeface="Arial" panose="020B0604020202020204" pitchFamily="34" charset="0"/>
              </a:rPr>
              <a:t> An </a:t>
            </a:r>
            <a:r>
              <a:rPr lang="en-US" sz="2400" b="1" dirty="0">
                <a:solidFill>
                  <a:schemeClr val="tx1"/>
                </a:solidFill>
                <a:latin typeface="Arial" panose="020B0604020202020204" pitchFamily="34" charset="0"/>
                <a:cs typeface="Arial" panose="020B0604020202020204" pitchFamily="34" charset="0"/>
              </a:rPr>
              <a:t>ESP32</a:t>
            </a:r>
            <a:r>
              <a:rPr lang="en-US" sz="2400" dirty="0">
                <a:solidFill>
                  <a:schemeClr val="tx1"/>
                </a:solidFill>
                <a:latin typeface="Arial" panose="020B0604020202020204" pitchFamily="34" charset="0"/>
                <a:cs typeface="Arial" panose="020B0604020202020204" pitchFamily="34" charset="0"/>
              </a:rPr>
              <a:t> processes and  correlates all sensor data in </a:t>
            </a:r>
            <a:r>
              <a:rPr lang="en-US" sz="2400" b="1" dirty="0">
                <a:solidFill>
                  <a:schemeClr val="tx1"/>
                </a:solidFill>
                <a:latin typeface="Arial" panose="020B0604020202020204" pitchFamily="34" charset="0"/>
                <a:cs typeface="Arial" panose="020B0604020202020204" pitchFamily="34" charset="0"/>
              </a:rPr>
              <a:t>real time </a:t>
            </a:r>
            <a:r>
              <a:rPr lang="en-US" sz="2400" dirty="0">
                <a:solidFill>
                  <a:schemeClr val="tx1"/>
                </a:solidFill>
                <a:latin typeface="Arial" panose="020B0604020202020204" pitchFamily="34" charset="0"/>
                <a:cs typeface="Arial" panose="020B0604020202020204" pitchFamily="34" charset="0"/>
              </a:rPr>
              <a:t>to analyze trends and </a:t>
            </a:r>
            <a:r>
              <a:rPr lang="en-US" sz="2400" b="1" dirty="0">
                <a:solidFill>
                  <a:schemeClr val="tx1"/>
                </a:solidFill>
                <a:latin typeface="Arial" panose="020B0604020202020204" pitchFamily="34" charset="0"/>
                <a:cs typeface="Arial" panose="020B0604020202020204" pitchFamily="34" charset="0"/>
              </a:rPr>
              <a:t>detect early fault patterns </a:t>
            </a:r>
            <a:r>
              <a:rPr lang="en-US" sz="2400" dirty="0">
                <a:solidFill>
                  <a:schemeClr val="tx1"/>
                </a:solidFill>
                <a:latin typeface="Arial" panose="020B0604020202020204" pitchFamily="34" charset="0"/>
                <a:cs typeface="Arial" panose="020B0604020202020204" pitchFamily="34" charset="0"/>
              </a:rPr>
              <a:t>such as overheating, overload, misalignment and bearing failure with high accuracy. The data is sent to a </a:t>
            </a:r>
            <a:r>
              <a:rPr lang="en-US" sz="2400" b="1" dirty="0">
                <a:solidFill>
                  <a:schemeClr val="tx1"/>
                </a:solidFill>
                <a:latin typeface="Arial" panose="020B0604020202020204" pitchFamily="34" charset="0"/>
                <a:cs typeface="Arial" panose="020B0604020202020204" pitchFamily="34" charset="0"/>
              </a:rPr>
              <a:t>cloud dashboard</a:t>
            </a:r>
            <a:r>
              <a:rPr lang="en-US" sz="2400" dirty="0">
                <a:solidFill>
                  <a:schemeClr val="tx1"/>
                </a:solidFill>
                <a:latin typeface="Arial" panose="020B0604020202020204" pitchFamily="34" charset="0"/>
                <a:cs typeface="Arial" panose="020B0604020202020204" pitchFamily="34" charset="0"/>
              </a:rPr>
              <a:t> via Wi‑Fi/MQTT for real-time visualization, alerts, and automatic shutdown, enabling </a:t>
            </a:r>
            <a:r>
              <a:rPr lang="en-US" sz="2400" b="1" dirty="0">
                <a:solidFill>
                  <a:schemeClr val="tx1"/>
                </a:solidFill>
                <a:latin typeface="Arial" panose="020B0604020202020204" pitchFamily="34" charset="0"/>
                <a:cs typeface="Arial" panose="020B0604020202020204" pitchFamily="34" charset="0"/>
              </a:rPr>
              <a:t>predictive maintenance </a:t>
            </a:r>
            <a:r>
              <a:rPr lang="en-US" sz="2400" dirty="0">
                <a:solidFill>
                  <a:schemeClr val="tx1"/>
                </a:solidFill>
                <a:latin typeface="Arial" panose="020B0604020202020204" pitchFamily="34" charset="0"/>
                <a:cs typeface="Arial" panose="020B0604020202020204" pitchFamily="34" charset="0"/>
              </a:rPr>
              <a:t>and reducing unexpected failures and downtime</a:t>
            </a:r>
            <a:r>
              <a:rPr lang="en-US" sz="2000" dirty="0">
                <a:solidFill>
                  <a:schemeClr val="tx1"/>
                </a:solidFill>
                <a:latin typeface="Arial" panose="020B0604020202020204" pitchFamily="34" charset="0"/>
                <a:cs typeface="Arial" panose="020B0604020202020204" pitchFamily="34" charset="0"/>
              </a:rPr>
              <a:t>.</a:t>
            </a:r>
            <a:endParaRPr lang="en-IN" sz="2000" dirty="0">
              <a:solidFill>
                <a:schemeClr val="tx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3E0B2A5-30BB-5BED-D0F3-70EC213437C1}"/>
              </a:ext>
            </a:extLst>
          </p:cNvPr>
          <p:cNvSpPr txBox="1"/>
          <p:nvPr/>
        </p:nvSpPr>
        <p:spPr>
          <a:xfrm>
            <a:off x="228600" y="5232398"/>
            <a:ext cx="8991600" cy="769441"/>
          </a:xfrm>
          <a:prstGeom prst="rect">
            <a:avLst/>
          </a:prstGeom>
          <a:noFill/>
        </p:spPr>
        <p:txBody>
          <a:bodyPr wrap="square">
            <a:spAutoFit/>
          </a:bodyPr>
          <a:lstStyle/>
          <a:p>
            <a:pPr marL="285750" indent="-285750">
              <a:buFont typeface="Wingdings" panose="05000000000000000000" pitchFamily="2" charset="2"/>
              <a:buChar char="q"/>
            </a:pPr>
            <a:r>
              <a:rPr lang="en-US" sz="2400" b="1" dirty="0">
                <a:highlight>
                  <a:srgbClr val="419AA8"/>
                </a:highlight>
                <a:latin typeface="TT Norms Bold" panose="020B0604020202020204" charset="0"/>
              </a:rPr>
              <a:t>How the solution effectively solves the problem: </a:t>
            </a:r>
          </a:p>
          <a:p>
            <a:pPr algn="just"/>
            <a:endParaRPr lang="en-US" sz="2000" b="1" dirty="0">
              <a:latin typeface="TT Norms" panose="020B0604020202020204" charset="0"/>
            </a:endParaRPr>
          </a:p>
        </p:txBody>
      </p:sp>
      <p:sp>
        <p:nvSpPr>
          <p:cNvPr id="16" name="Rectangle 3">
            <a:extLst>
              <a:ext uri="{FF2B5EF4-FFF2-40B4-BE49-F238E27FC236}">
                <a16:creationId xmlns:a16="http://schemas.microsoft.com/office/drawing/2014/main" id="{918C98C3-4E3C-D3DA-D971-444345013133}"/>
              </a:ext>
            </a:extLst>
          </p:cNvPr>
          <p:cNvSpPr>
            <a:spLocks noChangeArrowheads="1"/>
          </p:cNvSpPr>
          <p:nvPr/>
        </p:nvSpPr>
        <p:spPr bwMode="auto">
          <a:xfrm>
            <a:off x="393700" y="7486388"/>
            <a:ext cx="8826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latin typeface="TT Norms" panose="020B0604020202020204" charset="0"/>
              </a:rPr>
              <a:t>.</a:t>
            </a:r>
          </a:p>
        </p:txBody>
      </p:sp>
      <p:graphicFrame>
        <p:nvGraphicFramePr>
          <p:cNvPr id="15" name="Table 14">
            <a:extLst>
              <a:ext uri="{FF2B5EF4-FFF2-40B4-BE49-F238E27FC236}">
                <a16:creationId xmlns:a16="http://schemas.microsoft.com/office/drawing/2014/main" id="{B570D488-353C-83F6-3AD7-211B70AD0736}"/>
              </a:ext>
            </a:extLst>
          </p:cNvPr>
          <p:cNvGraphicFramePr>
            <a:graphicFrameLocks noGrp="1"/>
          </p:cNvGraphicFramePr>
          <p:nvPr>
            <p:extLst>
              <p:ext uri="{D42A27DB-BD31-4B8C-83A1-F6EECF244321}">
                <p14:modId xmlns:p14="http://schemas.microsoft.com/office/powerpoint/2010/main" val="1509149309"/>
              </p:ext>
            </p:extLst>
          </p:nvPr>
        </p:nvGraphicFramePr>
        <p:xfrm>
          <a:off x="9904607" y="2230133"/>
          <a:ext cx="7789015" cy="7617537"/>
        </p:xfrm>
        <a:graphic>
          <a:graphicData uri="http://schemas.openxmlformats.org/drawingml/2006/table">
            <a:tbl>
              <a:tblPr firstRow="1" firstCol="1" bandRow="1">
                <a:tableStyleId>{5C22544A-7EE6-4342-B048-85BDC9FD1C3A}</a:tableStyleId>
              </a:tblPr>
              <a:tblGrid>
                <a:gridCol w="2608574">
                  <a:extLst>
                    <a:ext uri="{9D8B030D-6E8A-4147-A177-3AD203B41FA5}">
                      <a16:colId xmlns:a16="http://schemas.microsoft.com/office/drawing/2014/main" val="3043825869"/>
                    </a:ext>
                  </a:extLst>
                </a:gridCol>
                <a:gridCol w="2608574">
                  <a:extLst>
                    <a:ext uri="{9D8B030D-6E8A-4147-A177-3AD203B41FA5}">
                      <a16:colId xmlns:a16="http://schemas.microsoft.com/office/drawing/2014/main" val="1802197174"/>
                    </a:ext>
                  </a:extLst>
                </a:gridCol>
                <a:gridCol w="2571867">
                  <a:extLst>
                    <a:ext uri="{9D8B030D-6E8A-4147-A177-3AD203B41FA5}">
                      <a16:colId xmlns:a16="http://schemas.microsoft.com/office/drawing/2014/main" val="797890803"/>
                    </a:ext>
                  </a:extLst>
                </a:gridCol>
              </a:tblGrid>
              <a:tr h="602984">
                <a:tc>
                  <a:txBody>
                    <a:bodyPr/>
                    <a:lstStyle/>
                    <a:p>
                      <a:pPr algn="ctr">
                        <a:lnSpc>
                          <a:spcPct val="200000"/>
                        </a:lnSpc>
                        <a:spcAft>
                          <a:spcPts val="800"/>
                        </a:spcAft>
                        <a:buNone/>
                      </a:pPr>
                      <a:r>
                        <a:rPr lang="en-IN" sz="2000" kern="100" dirty="0">
                          <a:solidFill>
                            <a:schemeClr val="bg1"/>
                          </a:solidFill>
                          <a:effectLst/>
                        </a:rPr>
                        <a:t>Feature</a:t>
                      </a:r>
                      <a:endParaRPr lang="en-IN" sz="2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solidFill>
                      <a:srgbClr val="419AA8"/>
                    </a:solidFill>
                  </a:tcPr>
                </a:tc>
                <a:tc>
                  <a:txBody>
                    <a:bodyPr/>
                    <a:lstStyle/>
                    <a:p>
                      <a:pPr algn="ctr">
                        <a:lnSpc>
                          <a:spcPct val="107000"/>
                        </a:lnSpc>
                        <a:spcAft>
                          <a:spcPts val="800"/>
                        </a:spcAft>
                        <a:buNone/>
                      </a:pPr>
                      <a:r>
                        <a:rPr lang="en-IN" sz="2000" kern="100" dirty="0">
                          <a:solidFill>
                            <a:schemeClr val="tx1"/>
                          </a:solidFill>
                          <a:effectLst/>
                        </a:rPr>
                        <a:t>Existing Solutions</a:t>
                      </a:r>
                      <a:endParaRPr lang="en-IN"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chemeClr val="accent5">
                        <a:lumMod val="60000"/>
                        <a:lumOff val="40000"/>
                      </a:schemeClr>
                    </a:solidFill>
                  </a:tcPr>
                </a:tc>
                <a:tc>
                  <a:txBody>
                    <a:bodyPr/>
                    <a:lstStyle/>
                    <a:p>
                      <a:pPr algn="ctr">
                        <a:lnSpc>
                          <a:spcPct val="107000"/>
                        </a:lnSpc>
                        <a:spcAft>
                          <a:spcPts val="800"/>
                        </a:spcAft>
                        <a:buNone/>
                      </a:pPr>
                      <a:r>
                        <a:rPr lang="en-IN" sz="2000" kern="100" dirty="0">
                          <a:solidFill>
                            <a:schemeClr val="tx1"/>
                          </a:solidFill>
                          <a:effectLst/>
                        </a:rPr>
                        <a:t>Our Solution</a:t>
                      </a:r>
                      <a:endParaRPr lang="en-IN"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chemeClr val="accent5">
                        <a:lumMod val="60000"/>
                        <a:lumOff val="40000"/>
                      </a:schemeClr>
                    </a:solidFill>
                  </a:tcPr>
                </a:tc>
                <a:extLst>
                  <a:ext uri="{0D108BD9-81ED-4DB2-BD59-A6C34878D82A}">
                    <a16:rowId xmlns:a16="http://schemas.microsoft.com/office/drawing/2014/main" val="545750846"/>
                  </a:ext>
                </a:extLst>
              </a:tr>
              <a:tr h="1262913">
                <a:tc>
                  <a:txBody>
                    <a:bodyPr/>
                    <a:lstStyle/>
                    <a:p>
                      <a:pPr algn="ctr">
                        <a:lnSpc>
                          <a:spcPct val="100000"/>
                        </a:lnSpc>
                        <a:spcAft>
                          <a:spcPts val="800"/>
                        </a:spcAft>
                        <a:buNone/>
                      </a:pPr>
                      <a:r>
                        <a:rPr lang="en-IN" sz="2400" kern="100" dirty="0">
                          <a:effectLst/>
                        </a:rPr>
                        <a:t>Sensors used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1–2 basic sensors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6 correlated sensors (current, temp, vibration, RPM, voltage)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337516316"/>
                  </a:ext>
                </a:extLst>
              </a:tr>
              <a:tr h="1170744">
                <a:tc>
                  <a:txBody>
                    <a:bodyPr/>
                    <a:lstStyle/>
                    <a:p>
                      <a:pPr algn="ctr">
                        <a:lnSpc>
                          <a:spcPct val="107000"/>
                        </a:lnSpc>
                        <a:spcAft>
                          <a:spcPts val="800"/>
                        </a:spcAft>
                        <a:buNone/>
                      </a:pPr>
                      <a:r>
                        <a:rPr lang="en-IN" sz="2400" kern="100" dirty="0">
                          <a:effectLst/>
                        </a:rPr>
                        <a:t>Fault detection logic</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Simple threshold checks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Multi-parameter correlation + trends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526275045"/>
                  </a:ext>
                </a:extLst>
              </a:tr>
              <a:tr h="1170744">
                <a:tc>
                  <a:txBody>
                    <a:bodyPr/>
                    <a:lstStyle/>
                    <a:p>
                      <a:pPr algn="ctr">
                        <a:lnSpc>
                          <a:spcPct val="107000"/>
                        </a:lnSpc>
                        <a:spcAft>
                          <a:spcPts val="800"/>
                        </a:spcAft>
                        <a:buNone/>
                      </a:pPr>
                      <a:r>
                        <a:rPr lang="en-IN" sz="2400" kern="100" dirty="0">
                          <a:effectLst/>
                        </a:rPr>
                        <a:t>Warning time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800" kern="100" dirty="0">
                          <a:effectLst/>
                        </a:rPr>
                        <a:t>0 min (after failure starts)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5–10 min early warning</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633150812"/>
                  </a:ext>
                </a:extLst>
              </a:tr>
              <a:tr h="1068664">
                <a:tc>
                  <a:txBody>
                    <a:bodyPr/>
                    <a:lstStyle/>
                    <a:p>
                      <a:pPr algn="ctr">
                        <a:lnSpc>
                          <a:spcPct val="107000"/>
                        </a:lnSpc>
                        <a:spcAft>
                          <a:spcPts val="800"/>
                        </a:spcAft>
                        <a:buNone/>
                      </a:pPr>
                      <a:r>
                        <a:rPr lang="en-IN" sz="2400" kern="100" dirty="0">
                          <a:effectLst/>
                        </a:rPr>
                        <a:t>Output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Generic “ALARM”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Specific fault type + priority level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346756874"/>
                  </a:ext>
                </a:extLst>
              </a:tr>
              <a:tr h="1170744">
                <a:tc>
                  <a:txBody>
                    <a:bodyPr/>
                    <a:lstStyle/>
                    <a:p>
                      <a:pPr algn="ctr">
                        <a:lnSpc>
                          <a:spcPct val="107000"/>
                        </a:lnSpc>
                        <a:spcAft>
                          <a:spcPts val="800"/>
                        </a:spcAft>
                        <a:buNone/>
                      </a:pPr>
                      <a:r>
                        <a:rPr lang="en-IN" sz="2400" kern="100" dirty="0">
                          <a:effectLst/>
                        </a:rPr>
                        <a:t>Accuracy &amp; false alarms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40–50% accuracy, many false alarms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70–99% accuracy, low false alarms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1448390600"/>
                  </a:ext>
                </a:extLst>
              </a:tr>
              <a:tr h="1170744">
                <a:tc>
                  <a:txBody>
                    <a:bodyPr/>
                    <a:lstStyle/>
                    <a:p>
                      <a:pPr algn="ctr">
                        <a:lnSpc>
                          <a:spcPct val="107000"/>
                        </a:lnSpc>
                        <a:spcAft>
                          <a:spcPts val="800"/>
                        </a:spcAft>
                        <a:buNone/>
                      </a:pPr>
                      <a:r>
                        <a:rPr lang="en-IN" sz="2400" kern="100" dirty="0">
                          <a:effectLst/>
                        </a:rPr>
                        <a:t>Connectivity &amp; scalability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2000" kern="100" dirty="0">
                          <a:effectLst/>
                        </a:rPr>
                        <a:t>Local only, few motors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2000" kern="100" dirty="0">
                          <a:effectLst/>
                        </a:rPr>
                        <a:t>Cloud-based, scalable to 100+ motors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1887521737"/>
                  </a:ext>
                </a:extLst>
              </a:tr>
            </a:tbl>
          </a:graphicData>
        </a:graphic>
      </p:graphicFrame>
      <p:sp>
        <p:nvSpPr>
          <p:cNvPr id="17" name="Rectangle 4">
            <a:extLst>
              <a:ext uri="{FF2B5EF4-FFF2-40B4-BE49-F238E27FC236}">
                <a16:creationId xmlns:a16="http://schemas.microsoft.com/office/drawing/2014/main" id="{65BC8516-ABC9-5A23-B107-279C80B53979}"/>
              </a:ext>
            </a:extLst>
          </p:cNvPr>
          <p:cNvSpPr>
            <a:spLocks noChangeArrowheads="1"/>
          </p:cNvSpPr>
          <p:nvPr/>
        </p:nvSpPr>
        <p:spPr bwMode="auto">
          <a:xfrm>
            <a:off x="9451505" y="1150292"/>
            <a:ext cx="69006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highlight>
                  <a:srgbClr val="419AA8"/>
                </a:highlight>
                <a:latin typeface="TT Norms Bold" panose="020B0604020202020204" charset="0"/>
                <a:ea typeface="Calibri" panose="020F0502020204030204" pitchFamily="34" charset="0"/>
                <a:cs typeface="Times New Roman" panose="02020603050405020304" pitchFamily="18" charset="0"/>
              </a:rPr>
              <a:t>Unique features and innovative elements compared to existing options</a:t>
            </a:r>
            <a:r>
              <a:rPr lang="en-US" altLang="en-US" sz="2400" dirty="0">
                <a:highlight>
                  <a:srgbClr val="419AA8"/>
                </a:highlight>
                <a:latin typeface="TT Norms Bold" panose="020B0604020202020204" charset="0"/>
                <a:ea typeface="Calibri" panose="020F0502020204030204" pitchFamily="34" charset="0"/>
                <a:cs typeface="Times New Roman" panose="02020603050405020304" pitchFamily="18" charset="0"/>
              </a:rPr>
              <a:t>:</a:t>
            </a:r>
            <a:endParaRPr kumimoji="0" lang="en-US" altLang="en-US" sz="4000" b="0" i="0" u="none" strike="noStrike" cap="none" normalizeH="0" baseline="0" dirty="0">
              <a:ln>
                <a:noFill/>
              </a:ln>
              <a:solidFill>
                <a:schemeClr val="tx1"/>
              </a:solidFill>
              <a:effectLst/>
              <a:highlight>
                <a:srgbClr val="419AA8"/>
              </a:highlight>
              <a:latin typeface="TT Norms Bold" panose="020B0604020202020204" charset="0"/>
            </a:endParaRPr>
          </a:p>
        </p:txBody>
      </p:sp>
      <p:sp>
        <p:nvSpPr>
          <p:cNvPr id="18" name="Rectangle 5">
            <a:extLst>
              <a:ext uri="{FF2B5EF4-FFF2-40B4-BE49-F238E27FC236}">
                <a16:creationId xmlns:a16="http://schemas.microsoft.com/office/drawing/2014/main" id="{2B94EB9D-1D4B-B6A8-398C-CAF687B3C8DA}"/>
              </a:ext>
            </a:extLst>
          </p:cNvPr>
          <p:cNvSpPr>
            <a:spLocks noChangeArrowheads="1"/>
          </p:cNvSpPr>
          <p:nvPr/>
        </p:nvSpPr>
        <p:spPr bwMode="auto">
          <a:xfrm>
            <a:off x="431800" y="5617118"/>
            <a:ext cx="87503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Our system replaces blind, single-sensor alarms with an </a:t>
            </a:r>
            <a:r>
              <a:rPr kumimoji="0" lang="en-US" altLang="en-US" sz="2400" b="1" i="0" u="none" strike="noStrike" cap="none" normalizeH="0" baseline="0" dirty="0">
                <a:ln>
                  <a:noFill/>
                </a:ln>
                <a:solidFill>
                  <a:schemeClr val="tx1"/>
                </a:solidFill>
                <a:effectLst/>
                <a:latin typeface="Arial" panose="020B0604020202020204" pitchFamily="34" charset="0"/>
              </a:rPr>
              <a:t>always-on intelligent “motor doctor.”</a:t>
            </a:r>
            <a:r>
              <a:rPr kumimoji="0" lang="en-US" altLang="en-US" sz="2400" b="0" i="0" u="none" strike="noStrike" cap="none" normalizeH="0" baseline="0" dirty="0">
                <a:ln>
                  <a:noFill/>
                </a:ln>
                <a:solidFill>
                  <a:schemeClr val="tx1"/>
                </a:solidFill>
                <a:effectLst/>
                <a:latin typeface="Arial" panose="020B0604020202020204" pitchFamily="34" charset="0"/>
              </a:rPr>
              <a:t> It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continuously monitors </a:t>
            </a:r>
            <a:r>
              <a:rPr kumimoji="0" lang="en-US" altLang="en-US" sz="2400" b="1" i="0" u="none" strike="noStrike" cap="none" normalizeH="0" baseline="0" dirty="0">
                <a:ln>
                  <a:noFill/>
                </a:ln>
                <a:solidFill>
                  <a:schemeClr val="tx1"/>
                </a:solidFill>
                <a:effectLst/>
                <a:latin typeface="Arial" panose="020B0604020202020204" pitchFamily="34" charset="0"/>
              </a:rPr>
              <a:t>six motor parameters together</a:t>
            </a:r>
            <a:r>
              <a:rPr kumimoji="0" lang="en-US" altLang="en-US" sz="2400" b="0" i="0" u="none" strike="noStrike" cap="none" normalizeH="0" baseline="0" dirty="0">
                <a:ln>
                  <a:noFill/>
                </a:ln>
                <a:solidFill>
                  <a:schemeClr val="tx1"/>
                </a:solidFill>
                <a:effectLst/>
                <a:latin typeface="Arial" panose="020B0604020202020204" pitchFamily="34" charset="0"/>
              </a:rPr>
              <a:t> to build a complete health profile and correlates them in real time. </a:t>
            </a:r>
            <a:endParaRPr lang="en-US" altLang="en-US" sz="2400" dirty="0">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Analyzes trends, </a:t>
            </a:r>
            <a:r>
              <a:rPr kumimoji="0" lang="en-US" altLang="en-US" sz="2400" b="1" i="0" u="none" strike="noStrike" cap="none" normalizeH="0" baseline="0" dirty="0">
                <a:ln>
                  <a:noFill/>
                </a:ln>
                <a:solidFill>
                  <a:schemeClr val="tx1"/>
                </a:solidFill>
                <a:effectLst/>
                <a:latin typeface="Arial" panose="020B0604020202020204" pitchFamily="34" charset="0"/>
              </a:rPr>
              <a:t>predicts failures 5–10 minutes in advance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accurately identifies the fault type, and can </a:t>
            </a:r>
            <a:r>
              <a:rPr kumimoji="0" lang="en-US" altLang="en-US" sz="2400" b="1" i="0" u="none" strike="noStrike" cap="none" normalizeH="0" baseline="0" dirty="0">
                <a:ln>
                  <a:noFill/>
                </a:ln>
                <a:solidFill>
                  <a:schemeClr val="tx1"/>
                </a:solidFill>
                <a:effectLst/>
                <a:latin typeface="Arial" panose="020B0604020202020204" pitchFamily="34" charset="0"/>
              </a:rPr>
              <a:t>automatically shut down the motor</a:t>
            </a:r>
            <a:r>
              <a:rPr kumimoji="0" lang="en-US" altLang="en-US" sz="2400" b="0" i="0" u="none" strike="noStrike" cap="none" normalizeH="0" baseline="0" dirty="0">
                <a:ln>
                  <a:noFill/>
                </a:ln>
                <a:solidFill>
                  <a:schemeClr val="tx1"/>
                </a:solidFill>
                <a:effectLst/>
                <a:latin typeface="Arial" panose="020B0604020202020204" pitchFamily="34" charset="0"/>
              </a:rPr>
              <a:t> when needed—preventing damage, reducing downtime,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enables planned maintenance instead of sudden breakdowns.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750957" y="-1857849"/>
            <a:ext cx="18379715" cy="3378674"/>
            <a:chOff x="0" y="0"/>
            <a:chExt cx="1673415" cy="307618"/>
          </a:xfrm>
        </p:grpSpPr>
        <p:sp>
          <p:nvSpPr>
            <p:cNvPr id="4" name="Freeform 4"/>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5" name="TextBox 5"/>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44600" y="262722"/>
            <a:ext cx="10388600" cy="955675"/>
          </a:xfrm>
          <a:prstGeom prst="rect">
            <a:avLst/>
          </a:prstGeom>
        </p:spPr>
        <p:txBody>
          <a:bodyPr lIns="0" tIns="0" rIns="0" bIns="0" rtlCol="0" anchor="t">
            <a:spAutoFit/>
          </a:bodyPr>
          <a:lstStyle/>
          <a:p>
            <a:pPr algn="l">
              <a:lnSpc>
                <a:spcPts val="7474"/>
              </a:lnSpc>
            </a:pPr>
            <a:r>
              <a:rPr lang="en-US" sz="6499" b="1">
                <a:solidFill>
                  <a:srgbClr val="FFFFFF"/>
                </a:solidFill>
                <a:latin typeface="TT Norms Bold"/>
                <a:ea typeface="TT Norms Bold"/>
                <a:cs typeface="TT Norms Bold"/>
                <a:sym typeface="TT Norms Bold"/>
              </a:rPr>
              <a:t>TECHNICAL APPROACH</a:t>
            </a:r>
          </a:p>
        </p:txBody>
      </p:sp>
      <p:sp>
        <p:nvSpPr>
          <p:cNvPr id="8" name="TextBox 8"/>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4</a:t>
            </a:r>
          </a:p>
        </p:txBody>
      </p:sp>
      <p:sp>
        <p:nvSpPr>
          <p:cNvPr id="9" name="Freeform 9"/>
          <p:cNvSpPr/>
          <p:nvPr/>
        </p:nvSpPr>
        <p:spPr>
          <a:xfrm>
            <a:off x="16595030" y="0"/>
            <a:ext cx="1720251" cy="1693730"/>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10" name="TextBox 9">
            <a:extLst>
              <a:ext uri="{FF2B5EF4-FFF2-40B4-BE49-F238E27FC236}">
                <a16:creationId xmlns:a16="http://schemas.microsoft.com/office/drawing/2014/main" id="{24451413-3497-CF36-57CA-24F76980D8FE}"/>
              </a:ext>
            </a:extLst>
          </p:cNvPr>
          <p:cNvSpPr txBox="1"/>
          <p:nvPr/>
        </p:nvSpPr>
        <p:spPr>
          <a:xfrm>
            <a:off x="0" y="1632509"/>
            <a:ext cx="5715000"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IN" sz="2800" dirty="0">
                <a:latin typeface="TT Norms Bold" panose="020B0604020202020204" charset="0"/>
              </a:rPr>
              <a:t>List of technologies to be used:</a:t>
            </a:r>
          </a:p>
        </p:txBody>
      </p:sp>
      <p:sp>
        <p:nvSpPr>
          <p:cNvPr id="12" name="TextBox 11">
            <a:extLst>
              <a:ext uri="{FF2B5EF4-FFF2-40B4-BE49-F238E27FC236}">
                <a16:creationId xmlns:a16="http://schemas.microsoft.com/office/drawing/2014/main" id="{4A6999F3-19F9-F86B-B1AC-5808DAB9C8C8}"/>
              </a:ext>
            </a:extLst>
          </p:cNvPr>
          <p:cNvSpPr txBox="1"/>
          <p:nvPr/>
        </p:nvSpPr>
        <p:spPr>
          <a:xfrm>
            <a:off x="-54864" y="2195900"/>
            <a:ext cx="6589837" cy="4524315"/>
          </a:xfrm>
          <a:prstGeom prst="rect">
            <a:avLst/>
          </a:prstGeom>
          <a:noFill/>
        </p:spPr>
        <p:txBody>
          <a:bodyPr wrap="square">
            <a:spAutoFit/>
          </a:bodyPr>
          <a:lstStyle/>
          <a:p>
            <a:pPr algn="just">
              <a:buClr>
                <a:schemeClr val="accent5">
                  <a:lumMod val="75000"/>
                </a:schemeClr>
              </a:buClr>
            </a:pPr>
            <a:r>
              <a:rPr lang="en-IN" sz="2000" b="1" dirty="0"/>
              <a:t>🔹</a:t>
            </a:r>
            <a:r>
              <a:rPr lang="en-IN" sz="2000" b="1" dirty="0">
                <a:latin typeface="TT Norms Bold" panose="020B0604020202020204" charset="0"/>
                <a:cs typeface="Arial" panose="020B0604020202020204" pitchFamily="34" charset="0"/>
              </a:rPr>
              <a:t>Hardware Technologies</a:t>
            </a:r>
          </a:p>
          <a:p>
            <a:pPr algn="just">
              <a:buNone/>
            </a:pPr>
            <a:r>
              <a:rPr lang="en-IN" sz="2000" b="1" dirty="0">
                <a:latin typeface="Arial" panose="020B0604020202020204" pitchFamily="34" charset="0"/>
                <a:cs typeface="Arial" panose="020B0604020202020204" pitchFamily="34" charset="0"/>
              </a:rPr>
              <a:t>     </a:t>
            </a:r>
            <a:r>
              <a:rPr lang="en-IN" b="1" dirty="0">
                <a:latin typeface="TT Norms Bold" panose="020B0604020202020204" charset="0"/>
                <a:cs typeface="Arial" panose="020B0604020202020204" pitchFamily="34" charset="0"/>
              </a:rPr>
              <a:t>🔸 </a:t>
            </a:r>
            <a:r>
              <a:rPr lang="en-IN" sz="2000" b="1" dirty="0">
                <a:latin typeface="TT Norms Bold" panose="020B0604020202020204" charset="0"/>
                <a:cs typeface="Arial" panose="020B0604020202020204" pitchFamily="34" charset="0"/>
              </a:rPr>
              <a:t>Processing &amp; Control</a:t>
            </a:r>
          </a:p>
          <a:p>
            <a:pPr lvl="1" algn="just">
              <a:buFont typeface="Arial" panose="020B0604020202020204" pitchFamily="34" charset="0"/>
              <a:buChar char="•"/>
            </a:pPr>
            <a:r>
              <a:rPr lang="en-IN" b="1" dirty="0">
                <a:latin typeface="TT Norms" panose="020B0604020202020204" charset="0"/>
                <a:cs typeface="Arial" panose="020B0604020202020204" pitchFamily="34" charset="0"/>
              </a:rPr>
              <a:t>ESP32</a:t>
            </a:r>
            <a:r>
              <a:rPr lang="en-IN" dirty="0">
                <a:latin typeface="TT Norms" panose="020B0604020202020204" charset="0"/>
                <a:cs typeface="Arial" panose="020B0604020202020204" pitchFamily="34" charset="0"/>
              </a:rPr>
              <a:t> – Main controller with built-in Wi-Fi for data processing and cloud communication</a:t>
            </a:r>
          </a:p>
          <a:p>
            <a:pPr algn="just">
              <a:buNone/>
            </a:pPr>
            <a:r>
              <a:rPr lang="en-IN" sz="2000" b="1" dirty="0">
                <a:latin typeface="Arial" panose="020B0604020202020204" pitchFamily="34" charset="0"/>
                <a:cs typeface="Arial" panose="020B0604020202020204" pitchFamily="34" charset="0"/>
              </a:rPr>
              <a:t>     </a:t>
            </a:r>
            <a:r>
              <a:rPr lang="en-IN" b="1" dirty="0">
                <a:latin typeface="TT Norms Bold" panose="020B0604020202020204" charset="0"/>
                <a:cs typeface="Arial" panose="020B0604020202020204" pitchFamily="34" charset="0"/>
              </a:rPr>
              <a:t>🔸 </a:t>
            </a:r>
            <a:r>
              <a:rPr lang="en-IN" sz="2400" b="1" dirty="0">
                <a:latin typeface="TT Norms Bold" panose="020B0604020202020204" charset="0"/>
                <a:cs typeface="Arial" panose="020B0604020202020204" pitchFamily="34" charset="0"/>
              </a:rPr>
              <a:t>Sensing Technologies</a:t>
            </a:r>
            <a:endParaRPr lang="en-IN" sz="2000" b="1" dirty="0">
              <a:latin typeface="TT Norms Bold" panose="020B0604020202020204" charset="0"/>
              <a:cs typeface="Arial" panose="020B0604020202020204" pitchFamily="34" charset="0"/>
            </a:endParaRP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INA219</a:t>
            </a:r>
            <a:r>
              <a:rPr lang="en-IN" sz="2000" dirty="0">
                <a:latin typeface="TT Norms" panose="020B0604020202020204" charset="0"/>
                <a:cs typeface="Arial" panose="020B0604020202020204" pitchFamily="34" charset="0"/>
              </a:rPr>
              <a:t> – Motor current monitoring</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DS18B20 (×2)</a:t>
            </a:r>
            <a:r>
              <a:rPr lang="en-IN" sz="2000" dirty="0">
                <a:latin typeface="TT Norms" panose="020B0604020202020204" charset="0"/>
                <a:cs typeface="Arial" panose="020B0604020202020204" pitchFamily="34" charset="0"/>
              </a:rPr>
              <a:t> – Motor body &amp; bearing temperature</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ADXL335</a:t>
            </a:r>
            <a:r>
              <a:rPr lang="en-IN" sz="2000" dirty="0">
                <a:latin typeface="TT Norms" panose="020B0604020202020204" charset="0"/>
                <a:cs typeface="Arial" panose="020B0604020202020204" pitchFamily="34" charset="0"/>
              </a:rPr>
              <a:t> – Vibration and imbalance detection</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TCRT5000</a:t>
            </a:r>
            <a:r>
              <a:rPr lang="en-IN" sz="2000" dirty="0">
                <a:latin typeface="TT Norms" panose="020B0604020202020204" charset="0"/>
                <a:cs typeface="Arial" panose="020B0604020202020204" pitchFamily="34" charset="0"/>
              </a:rPr>
              <a:t> – RPM / speed measurement</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ZMPT101B</a:t>
            </a:r>
            <a:r>
              <a:rPr lang="en-IN" sz="2000" dirty="0">
                <a:latin typeface="TT Norms" panose="020B0604020202020204" charset="0"/>
                <a:cs typeface="Arial" panose="020B0604020202020204" pitchFamily="34" charset="0"/>
              </a:rPr>
              <a:t> – Input voltage monitoring</a:t>
            </a:r>
          </a:p>
          <a:p>
            <a:pPr lvl="1" algn="just"/>
            <a:r>
              <a:rPr lang="en-IN" b="1" dirty="0">
                <a:latin typeface="TT Norms" panose="020B0604020202020204" charset="0"/>
                <a:cs typeface="Arial" panose="020B0604020202020204" pitchFamily="34" charset="0"/>
              </a:rPr>
              <a:t>🔸</a:t>
            </a:r>
            <a:r>
              <a:rPr lang="en-IN" sz="2800" b="1" dirty="0">
                <a:latin typeface="TT Norms" panose="020B0604020202020204" charset="0"/>
                <a:cs typeface="Arial" panose="020B0604020202020204" pitchFamily="34" charset="0"/>
              </a:rPr>
              <a:t> </a:t>
            </a:r>
            <a:r>
              <a:rPr lang="en-IN" sz="2400" b="1" dirty="0">
                <a:latin typeface="TT Norms Bold" panose="020B0604020202020204" charset="0"/>
                <a:cs typeface="Arial" panose="020B0604020202020204" pitchFamily="34" charset="0"/>
              </a:rPr>
              <a:t>Actuation &amp; Power</a:t>
            </a:r>
          </a:p>
          <a:p>
            <a:pPr lvl="1">
              <a:buFont typeface="Arial" panose="020B0604020202020204" pitchFamily="34" charset="0"/>
              <a:buChar char="•"/>
            </a:pPr>
            <a:r>
              <a:rPr lang="en-IN" sz="2000" b="1" dirty="0">
                <a:latin typeface="TT Norms" panose="020B0604020202020204" charset="0"/>
                <a:cs typeface="Arial" panose="020B0604020202020204" pitchFamily="34" charset="0"/>
              </a:rPr>
              <a:t>Relay Module</a:t>
            </a:r>
            <a:r>
              <a:rPr lang="en-IN" sz="2000" dirty="0">
                <a:latin typeface="TT Norms" panose="020B0604020202020204" charset="0"/>
                <a:cs typeface="Arial" panose="020B0604020202020204" pitchFamily="34" charset="0"/>
              </a:rPr>
              <a:t> – Automatic motor isolation during faults</a:t>
            </a:r>
          </a:p>
          <a:p>
            <a:pPr lvl="1">
              <a:buFont typeface="Arial" panose="020B0604020202020204" pitchFamily="34" charset="0"/>
              <a:buChar char="•"/>
            </a:pPr>
            <a:r>
              <a:rPr lang="en-IN" sz="2000" b="1" dirty="0">
                <a:latin typeface="TT Norms" panose="020B0604020202020204" charset="0"/>
                <a:cs typeface="Arial" panose="020B0604020202020204" pitchFamily="34" charset="0"/>
              </a:rPr>
              <a:t>AC Motor</a:t>
            </a:r>
            <a:r>
              <a:rPr lang="en-IN" sz="2000" dirty="0">
                <a:latin typeface="TT Norms" panose="020B0604020202020204" charset="0"/>
                <a:cs typeface="Arial" panose="020B0604020202020204" pitchFamily="34" charset="0"/>
              </a:rPr>
              <a:t> – Load under monitoring</a:t>
            </a:r>
          </a:p>
        </p:txBody>
      </p:sp>
      <p:sp>
        <p:nvSpPr>
          <p:cNvPr id="14" name="TextBox 13">
            <a:extLst>
              <a:ext uri="{FF2B5EF4-FFF2-40B4-BE49-F238E27FC236}">
                <a16:creationId xmlns:a16="http://schemas.microsoft.com/office/drawing/2014/main" id="{69FC941C-F370-A7AF-B993-89C2B5783F61}"/>
              </a:ext>
            </a:extLst>
          </p:cNvPr>
          <p:cNvSpPr txBox="1"/>
          <p:nvPr/>
        </p:nvSpPr>
        <p:spPr>
          <a:xfrm>
            <a:off x="-14288" y="6663751"/>
            <a:ext cx="7065264" cy="3600986"/>
          </a:xfrm>
          <a:prstGeom prst="rect">
            <a:avLst/>
          </a:prstGeom>
          <a:noFill/>
        </p:spPr>
        <p:txBody>
          <a:bodyPr wrap="square">
            <a:spAutoFit/>
          </a:bodyPr>
          <a:lstStyle/>
          <a:p>
            <a:pPr algn="just">
              <a:buNone/>
            </a:pPr>
            <a:r>
              <a:rPr lang="en-IN" b="1" dirty="0"/>
              <a:t> </a:t>
            </a:r>
            <a:r>
              <a:rPr lang="en-IN" sz="2000" b="1" dirty="0">
                <a:latin typeface="Arial" panose="020B0604020202020204" pitchFamily="34" charset="0"/>
                <a:cs typeface="Arial" panose="020B0604020202020204" pitchFamily="34" charset="0"/>
              </a:rPr>
              <a:t>🔹 </a:t>
            </a:r>
            <a:r>
              <a:rPr lang="en-IN" sz="2400" b="1" dirty="0">
                <a:latin typeface="TT Norms Bold" panose="020B0604020202020204" charset="0"/>
                <a:cs typeface="Arial" panose="020B0604020202020204" pitchFamily="34" charset="0"/>
              </a:rPr>
              <a:t>Communication &amp; Networking</a:t>
            </a:r>
            <a:endParaRPr lang="en-IN" sz="2000" b="1" dirty="0">
              <a:latin typeface="TT Norms Bold" panose="020B0604020202020204" charset="0"/>
              <a:cs typeface="Arial" panose="020B0604020202020204" pitchFamily="34" charset="0"/>
            </a:endParaRP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Wi-Fi (ESP32 inbuilt)</a:t>
            </a:r>
            <a:r>
              <a:rPr lang="en-IN" sz="2000" dirty="0">
                <a:latin typeface="TT Norms" panose="020B0604020202020204" charset="0"/>
                <a:cs typeface="Arial" panose="020B0604020202020204" pitchFamily="34" charset="0"/>
              </a:rPr>
              <a:t> – Internet connectivity</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MQTT</a:t>
            </a:r>
            <a:r>
              <a:rPr lang="en-IN" sz="2000" dirty="0">
                <a:latin typeface="TT Norms" panose="020B0604020202020204" charset="0"/>
                <a:cs typeface="Arial" panose="020B0604020202020204" pitchFamily="34" charset="0"/>
              </a:rPr>
              <a:t> – Lightweight real-time data transfer</a:t>
            </a:r>
          </a:p>
          <a:p>
            <a:pPr algn="just">
              <a:buNone/>
            </a:pPr>
            <a:r>
              <a:rPr lang="en-IN" sz="2000" b="1" dirty="0">
                <a:latin typeface="TT Norms" panose="020B0604020202020204" charset="0"/>
                <a:cs typeface="Arial" panose="020B0604020202020204" pitchFamily="34" charset="0"/>
              </a:rPr>
              <a:t>🔹 </a:t>
            </a:r>
            <a:r>
              <a:rPr lang="en-IN" sz="2400" b="1" dirty="0">
                <a:latin typeface="TT Norms Bold" panose="020B0604020202020204" charset="0"/>
                <a:cs typeface="Arial" panose="020B0604020202020204" pitchFamily="34" charset="0"/>
              </a:rPr>
              <a:t>Software &amp; Data Technologies</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Embedded C / Arduino Framework</a:t>
            </a:r>
            <a:r>
              <a:rPr lang="en-IN" sz="2000" dirty="0">
                <a:latin typeface="TT Norms" panose="020B0604020202020204" charset="0"/>
                <a:cs typeface="Arial" panose="020B0604020202020204" pitchFamily="34" charset="0"/>
              </a:rPr>
              <a:t> – ESP32 firmware</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Signal Processing Algorithms</a:t>
            </a:r>
            <a:r>
              <a:rPr lang="en-IN" sz="2000" dirty="0">
                <a:latin typeface="TT Norms" panose="020B0604020202020204" charset="0"/>
                <a:cs typeface="Arial" panose="020B0604020202020204" pitchFamily="34" charset="0"/>
              </a:rPr>
              <a:t> – Filtering &amp; sensor correlation</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Fault Pattern Matching Logic</a:t>
            </a:r>
            <a:r>
              <a:rPr lang="en-IN" sz="2000" dirty="0">
                <a:latin typeface="TT Norms" panose="020B0604020202020204" charset="0"/>
                <a:cs typeface="Arial" panose="020B0604020202020204" pitchFamily="34" charset="0"/>
              </a:rPr>
              <a:t> – Early failure prediction</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Cloud Database</a:t>
            </a:r>
            <a:r>
              <a:rPr lang="en-IN" sz="2000" dirty="0">
                <a:latin typeface="TT Norms" panose="020B0604020202020204" charset="0"/>
                <a:cs typeface="Arial" panose="020B0604020202020204" pitchFamily="34" charset="0"/>
              </a:rPr>
              <a:t> – Sensor data logging &amp; history</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Web Dashboard</a:t>
            </a:r>
            <a:r>
              <a:rPr lang="en-IN" sz="2000" dirty="0">
                <a:latin typeface="TT Norms" panose="020B0604020202020204" charset="0"/>
                <a:cs typeface="Arial" panose="020B0604020202020204" pitchFamily="34" charset="0"/>
              </a:rPr>
              <a:t> – Real-time monitoring &amp; visualization</a:t>
            </a:r>
          </a:p>
          <a:p>
            <a:pPr lvl="1" algn="just">
              <a:buFont typeface="Arial" panose="020B0604020202020204" pitchFamily="34" charset="0"/>
              <a:buChar char="•"/>
            </a:pPr>
            <a:r>
              <a:rPr lang="en-IN" sz="2000" b="1" dirty="0">
                <a:latin typeface="TT Norms" panose="020B0604020202020204" charset="0"/>
                <a:cs typeface="Arial" panose="020B0604020202020204" pitchFamily="34" charset="0"/>
              </a:rPr>
              <a:t>Alert System</a:t>
            </a:r>
            <a:r>
              <a:rPr lang="en-IN" sz="2000" dirty="0">
                <a:latin typeface="TT Norms" panose="020B0604020202020204" charset="0"/>
                <a:cs typeface="Arial" panose="020B0604020202020204" pitchFamily="34" charset="0"/>
              </a:rPr>
              <a:t> – SMS / Email notifications</a:t>
            </a:r>
            <a:endParaRPr lang="en-IN" dirty="0">
              <a:latin typeface="TT Norms" panose="020B0604020202020204" charset="0"/>
              <a:cs typeface="Arial" panose="020B0604020202020204" pitchFamily="34" charset="0"/>
            </a:endParaRPr>
          </a:p>
        </p:txBody>
      </p:sp>
      <p:sp>
        <p:nvSpPr>
          <p:cNvPr id="16" name="TextBox 15">
            <a:extLst>
              <a:ext uri="{FF2B5EF4-FFF2-40B4-BE49-F238E27FC236}">
                <a16:creationId xmlns:a16="http://schemas.microsoft.com/office/drawing/2014/main" id="{70C53A19-6C3E-CAC5-745A-4090EAEEF3F9}"/>
              </a:ext>
            </a:extLst>
          </p:cNvPr>
          <p:cNvSpPr txBox="1"/>
          <p:nvPr/>
        </p:nvSpPr>
        <p:spPr>
          <a:xfrm>
            <a:off x="6974026" y="1632509"/>
            <a:ext cx="6190427"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800" dirty="0">
                <a:solidFill>
                  <a:srgbClr val="000000"/>
                </a:solidFill>
                <a:latin typeface="TT Norms Bold" panose="020B0604020202020204" charset="0"/>
                <a:ea typeface="TT Norms"/>
                <a:cs typeface="TT Norms"/>
                <a:sym typeface="TT Norms"/>
              </a:rPr>
              <a:t>Methodology for implementation:</a:t>
            </a:r>
          </a:p>
        </p:txBody>
      </p:sp>
      <p:sp>
        <p:nvSpPr>
          <p:cNvPr id="18" name="TextBox 17">
            <a:extLst>
              <a:ext uri="{FF2B5EF4-FFF2-40B4-BE49-F238E27FC236}">
                <a16:creationId xmlns:a16="http://schemas.microsoft.com/office/drawing/2014/main" id="{A93ABB81-0FAD-2226-3A63-CE5CED805EC7}"/>
              </a:ext>
            </a:extLst>
          </p:cNvPr>
          <p:cNvSpPr txBox="1"/>
          <p:nvPr/>
        </p:nvSpPr>
        <p:spPr>
          <a:xfrm>
            <a:off x="7059751" y="2174779"/>
            <a:ext cx="5964285" cy="8279190"/>
          </a:xfrm>
          <a:prstGeom prst="rect">
            <a:avLst/>
          </a:prstGeom>
          <a:noFill/>
        </p:spPr>
        <p:txBody>
          <a:bodyPr wrap="square" anchor="ctr">
            <a:spAutoFit/>
          </a:bodyPr>
          <a:lstStyle/>
          <a:p>
            <a:pPr>
              <a:buNone/>
            </a:pPr>
            <a:r>
              <a:rPr lang="en-US" sz="2400" b="1" dirty="0">
                <a:latin typeface="TT Norms Bold" panose="020B0604020202020204" charset="0"/>
                <a:cs typeface="Arial" panose="020B0604020202020204" pitchFamily="34" charset="0"/>
              </a:rPr>
              <a:t>Step-by-Step Methodology</a:t>
            </a:r>
          </a:p>
          <a:p>
            <a:pPr>
              <a:buFont typeface="+mj-lt"/>
              <a:buAutoNum type="arabicPeriod"/>
            </a:pPr>
            <a:r>
              <a:rPr lang="en-US" sz="2400" b="1" dirty="0">
                <a:latin typeface="TT Norms Bold" panose="020B0604020202020204" charset="0"/>
                <a:cs typeface="Arial" panose="020B0604020202020204" pitchFamily="34" charset="0"/>
              </a:rPr>
              <a:t>Sensor Interfacing &amp; Calibration</a:t>
            </a:r>
            <a:br>
              <a:rPr lang="en-US" dirty="0">
                <a:latin typeface="TT Norms" panose="020B0604020202020204" charset="0"/>
                <a:cs typeface="Arial" panose="020B0604020202020204" pitchFamily="34" charset="0"/>
              </a:rPr>
            </a:br>
            <a:r>
              <a:rPr lang="en-US" sz="2000" dirty="0">
                <a:latin typeface="TT Norms" panose="020B0604020202020204" charset="0"/>
                <a:cs typeface="Arial" panose="020B0604020202020204" pitchFamily="34" charset="0"/>
              </a:rPr>
              <a:t>   Interface all six sensors with the </a:t>
            </a:r>
            <a:r>
              <a:rPr lang="en-US" sz="2000" b="1" dirty="0">
                <a:latin typeface="TT Norms" panose="020B0604020202020204" charset="0"/>
                <a:cs typeface="Arial" panose="020B0604020202020204" pitchFamily="34" charset="0"/>
              </a:rPr>
              <a:t>ESP32</a:t>
            </a:r>
            <a:r>
              <a:rPr lang="en-US" sz="2000" dirty="0">
                <a:latin typeface="TT Norms" panose="020B0604020202020204" charset="0"/>
                <a:cs typeface="Arial" panose="020B0604020202020204" pitchFamily="34" charset="0"/>
              </a:rPr>
              <a:t> and calibrate them to ensure accurate current, voltage, temperature, vibration, and RPM measurements.</a:t>
            </a:r>
          </a:p>
          <a:p>
            <a:r>
              <a:rPr lang="en-US" sz="2400" b="1" dirty="0">
                <a:latin typeface="TT Norms" panose="020B0604020202020204" charset="0"/>
                <a:cs typeface="Arial" panose="020B0604020202020204" pitchFamily="34" charset="0"/>
              </a:rPr>
              <a:t>2.</a:t>
            </a:r>
            <a:r>
              <a:rPr lang="en-US" sz="2400" b="1" dirty="0">
                <a:latin typeface="TT Norms Bold" panose="020B0604020202020204" charset="0"/>
                <a:cs typeface="Arial" panose="020B0604020202020204" pitchFamily="34" charset="0"/>
              </a:rPr>
              <a:t>Real-Time Data Acquisition</a:t>
            </a:r>
            <a:br>
              <a:rPr lang="en-US" dirty="0">
                <a:latin typeface="TT Norms Bold" panose="020B0604020202020204" charset="0"/>
                <a:cs typeface="Arial" panose="020B0604020202020204" pitchFamily="34" charset="0"/>
              </a:rPr>
            </a:br>
            <a:r>
              <a:rPr lang="en-US" dirty="0">
                <a:latin typeface="TT Norms" panose="020B0604020202020204" charset="0"/>
                <a:cs typeface="Arial" panose="020B0604020202020204" pitchFamily="34" charset="0"/>
              </a:rPr>
              <a:t>   </a:t>
            </a:r>
            <a:r>
              <a:rPr lang="en-US" sz="2000" dirty="0">
                <a:latin typeface="TT Norms" panose="020B0604020202020204" charset="0"/>
                <a:cs typeface="Arial" panose="020B0604020202020204" pitchFamily="34" charset="0"/>
              </a:rPr>
              <a:t>Collect sensor data at </a:t>
            </a:r>
            <a:r>
              <a:rPr lang="en-US" sz="2000" b="1" dirty="0">
                <a:latin typeface="TT Norms" panose="020B0604020202020204" charset="0"/>
                <a:cs typeface="Arial" panose="020B0604020202020204" pitchFamily="34" charset="0"/>
              </a:rPr>
              <a:t>1 sample per second</a:t>
            </a:r>
            <a:r>
              <a:rPr lang="en-US" sz="2000" dirty="0">
                <a:latin typeface="TT Norms" panose="020B0604020202020204" charset="0"/>
                <a:cs typeface="Arial" panose="020B0604020202020204" pitchFamily="34" charset="0"/>
              </a:rPr>
              <a:t>, convert raw  values into engineering units, and timestamp each reading.</a:t>
            </a:r>
          </a:p>
          <a:p>
            <a:r>
              <a:rPr lang="en-US" sz="2400" b="1" dirty="0">
                <a:latin typeface="TT Norms" panose="020B0604020202020204" charset="0"/>
                <a:cs typeface="Arial" panose="020B0604020202020204" pitchFamily="34" charset="0"/>
              </a:rPr>
              <a:t>3</a:t>
            </a:r>
            <a:r>
              <a:rPr lang="en-US" b="1" dirty="0">
                <a:latin typeface="TT Norms" panose="020B0604020202020204" charset="0"/>
                <a:cs typeface="Arial" panose="020B0604020202020204" pitchFamily="34" charset="0"/>
              </a:rPr>
              <a:t>.</a:t>
            </a:r>
            <a:r>
              <a:rPr lang="en-US" sz="2400" b="1" dirty="0">
                <a:latin typeface="TT Norms Bold" panose="020B0604020202020204" charset="0"/>
                <a:cs typeface="Arial" panose="020B0604020202020204" pitchFamily="34" charset="0"/>
              </a:rPr>
              <a:t>Data Processing &amp; Fault Detection</a:t>
            </a:r>
            <a:br>
              <a:rPr lang="en-US" sz="2400" dirty="0">
                <a:latin typeface="TT Norms" panose="020B0604020202020204" charset="0"/>
                <a:cs typeface="Arial" panose="020B0604020202020204" pitchFamily="34" charset="0"/>
              </a:rPr>
            </a:br>
            <a:r>
              <a:rPr lang="en-US" dirty="0">
                <a:latin typeface="TT Norms" panose="020B0604020202020204" charset="0"/>
                <a:cs typeface="Arial" panose="020B0604020202020204" pitchFamily="34" charset="0"/>
              </a:rPr>
              <a:t>   </a:t>
            </a:r>
            <a:r>
              <a:rPr lang="en-US" sz="2000" dirty="0">
                <a:latin typeface="TT Norms" panose="020B0604020202020204" charset="0"/>
                <a:cs typeface="Arial" panose="020B0604020202020204" pitchFamily="34" charset="0"/>
              </a:rPr>
              <a:t>Apply filtering to remove noise, correlate multi-sensor data, identify fault patterns, and assign priority levels   (warning/critical).</a:t>
            </a:r>
          </a:p>
          <a:p>
            <a:r>
              <a:rPr lang="en-US" sz="2400" b="1" dirty="0">
                <a:latin typeface="TT Norms" panose="020B0604020202020204" charset="0"/>
                <a:cs typeface="Arial" panose="020B0604020202020204" pitchFamily="34" charset="0"/>
              </a:rPr>
              <a:t>4.</a:t>
            </a:r>
            <a:r>
              <a:rPr lang="en-US" sz="2400" b="1" dirty="0">
                <a:latin typeface="TT Norms Bold" panose="020B0604020202020204" charset="0"/>
                <a:cs typeface="Arial" panose="020B0604020202020204" pitchFamily="34" charset="0"/>
              </a:rPr>
              <a:t>Cloud Communication</a:t>
            </a:r>
            <a:br>
              <a:rPr lang="en-US" dirty="0">
                <a:latin typeface="TT Norms" panose="020B0604020202020204" charset="0"/>
                <a:cs typeface="Arial" panose="020B0604020202020204" pitchFamily="34" charset="0"/>
              </a:rPr>
            </a:br>
            <a:r>
              <a:rPr lang="en-US" dirty="0">
                <a:latin typeface="TT Norms" panose="020B0604020202020204" charset="0"/>
                <a:cs typeface="Arial" panose="020B0604020202020204" pitchFamily="34" charset="0"/>
              </a:rPr>
              <a:t>   </a:t>
            </a:r>
            <a:r>
              <a:rPr lang="en-US" sz="2000" dirty="0">
                <a:latin typeface="TT Norms" panose="020B0604020202020204" charset="0"/>
                <a:cs typeface="Arial" panose="020B0604020202020204" pitchFamily="34" charset="0"/>
              </a:rPr>
              <a:t>Transmit real-time data and alerts to the cloud using Wi-Fi  and </a:t>
            </a:r>
            <a:r>
              <a:rPr lang="en-US" sz="2000" b="1" dirty="0">
                <a:latin typeface="TT Norms" panose="020B0604020202020204" charset="0"/>
                <a:cs typeface="Arial" panose="020B0604020202020204" pitchFamily="34" charset="0"/>
              </a:rPr>
              <a:t>MQTT</a:t>
            </a:r>
            <a:r>
              <a:rPr lang="en-US" sz="2000" dirty="0">
                <a:latin typeface="TT Norms" panose="020B0604020202020204" charset="0"/>
                <a:cs typeface="Arial" panose="020B0604020202020204" pitchFamily="34" charset="0"/>
              </a:rPr>
              <a:t>.</a:t>
            </a:r>
          </a:p>
          <a:p>
            <a:r>
              <a:rPr lang="en-US" sz="2400" b="1" dirty="0">
                <a:latin typeface="TT Norms" panose="020B0604020202020204" charset="0"/>
                <a:cs typeface="Arial" panose="020B0604020202020204" pitchFamily="34" charset="0"/>
              </a:rPr>
              <a:t>5</a:t>
            </a:r>
            <a:r>
              <a:rPr lang="en-US" sz="2800" b="1" dirty="0">
                <a:latin typeface="TT Norms" panose="020B0604020202020204" charset="0"/>
                <a:cs typeface="Arial" panose="020B0604020202020204" pitchFamily="34" charset="0"/>
              </a:rPr>
              <a:t>.</a:t>
            </a:r>
            <a:r>
              <a:rPr lang="en-US" sz="2400" b="1" dirty="0">
                <a:latin typeface="TT Norms Bold" panose="020B0604020202020204" charset="0"/>
                <a:cs typeface="Arial" panose="020B0604020202020204" pitchFamily="34" charset="0"/>
              </a:rPr>
              <a:t>Visualization &amp; Data Logging</a:t>
            </a:r>
            <a:endParaRPr lang="en-US" sz="2000" b="1" dirty="0">
              <a:latin typeface="TT Norms Bold" panose="020B0604020202020204" charset="0"/>
              <a:cs typeface="Arial" panose="020B0604020202020204" pitchFamily="34" charset="0"/>
            </a:endParaRPr>
          </a:p>
          <a:p>
            <a:r>
              <a:rPr lang="en-US" sz="2000" b="1" dirty="0">
                <a:latin typeface="TT Norms" panose="020B0604020202020204" charset="0"/>
                <a:cs typeface="Arial" panose="020B0604020202020204" pitchFamily="34" charset="0"/>
              </a:rPr>
              <a:t>   </a:t>
            </a:r>
            <a:r>
              <a:rPr lang="en-US" sz="2000" dirty="0">
                <a:latin typeface="TT Norms" panose="020B0604020202020204" charset="0"/>
                <a:cs typeface="Arial" panose="020B0604020202020204" pitchFamily="34" charset="0"/>
              </a:rPr>
              <a:t>Display live motor status and trends on a web dashboard  and store data in a cloud database for analysis.</a:t>
            </a:r>
            <a:endParaRPr lang="en-US" dirty="0">
              <a:latin typeface="TT Norms" panose="020B0604020202020204" charset="0"/>
              <a:cs typeface="Arial" panose="020B0604020202020204" pitchFamily="34" charset="0"/>
            </a:endParaRPr>
          </a:p>
          <a:p>
            <a:r>
              <a:rPr lang="en-US" sz="2400" b="1" dirty="0">
                <a:latin typeface="TT Norms" panose="020B0604020202020204" charset="0"/>
                <a:cs typeface="Arial" panose="020B0604020202020204" pitchFamily="34" charset="0"/>
              </a:rPr>
              <a:t>6.</a:t>
            </a:r>
            <a:r>
              <a:rPr lang="en-US" sz="2400" b="1" dirty="0">
                <a:latin typeface="TT Norms Bold" panose="020B0604020202020204" charset="0"/>
                <a:cs typeface="Arial" panose="020B0604020202020204" pitchFamily="34" charset="0"/>
              </a:rPr>
              <a:t>Safety Control &amp; Notification</a:t>
            </a:r>
            <a:br>
              <a:rPr lang="en-US" dirty="0">
                <a:latin typeface="TT Norms" panose="020B0604020202020204" charset="0"/>
                <a:cs typeface="Arial" panose="020B0604020202020204" pitchFamily="34" charset="0"/>
              </a:rPr>
            </a:br>
            <a:r>
              <a:rPr lang="en-US" sz="2000" dirty="0">
                <a:latin typeface="TT Norms" panose="020B0604020202020204" charset="0"/>
                <a:cs typeface="Arial" panose="020B0604020202020204" pitchFamily="34" charset="0"/>
              </a:rPr>
              <a:t>   Trigger relay-based motor shutdown during critical faults and notify users via SMS/email.</a:t>
            </a:r>
          </a:p>
          <a:p>
            <a:pPr>
              <a:buNone/>
            </a:pPr>
            <a:br>
              <a:rPr lang="en-US" sz="2000" dirty="0"/>
            </a:br>
            <a:endParaRPr lang="en-US" sz="2000" dirty="0"/>
          </a:p>
        </p:txBody>
      </p:sp>
      <p:pic>
        <p:nvPicPr>
          <p:cNvPr id="44" name="Picture 43">
            <a:extLst>
              <a:ext uri="{FF2B5EF4-FFF2-40B4-BE49-F238E27FC236}">
                <a16:creationId xmlns:a16="http://schemas.microsoft.com/office/drawing/2014/main" id="{63AA2728-C206-1AC5-34D6-9CB0774465E3}"/>
              </a:ext>
            </a:extLst>
          </p:cNvPr>
          <p:cNvPicPr>
            <a:picLocks noChangeAspect="1"/>
          </p:cNvPicPr>
          <p:nvPr/>
        </p:nvPicPr>
        <p:blipFill>
          <a:blip r:embed="rId5">
            <a:duotone>
              <a:prstClr val="black"/>
              <a:srgbClr val="419AA8">
                <a:tint val="45000"/>
                <a:satMod val="400000"/>
              </a:srgbClr>
            </a:duotone>
            <a:extLst>
              <a:ext uri="{28A0092B-C50C-407E-A947-70E740481C1C}">
                <a14:useLocalDpi xmlns:a14="http://schemas.microsoft.com/office/drawing/2010/main" val="0"/>
              </a:ext>
            </a:extLst>
          </a:blip>
          <a:stretch>
            <a:fillRect/>
          </a:stretch>
        </p:blipFill>
        <p:spPr>
          <a:xfrm>
            <a:off x="12350299" y="478540"/>
            <a:ext cx="6368227"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750957" y="-1857849"/>
            <a:ext cx="18379715" cy="3378674"/>
            <a:chOff x="0" y="0"/>
            <a:chExt cx="1673415" cy="307618"/>
          </a:xfrm>
        </p:grpSpPr>
        <p:sp>
          <p:nvSpPr>
            <p:cNvPr id="4" name="Freeform 4"/>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5" name="TextBox 5"/>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44600" y="262722"/>
            <a:ext cx="10388600" cy="955675"/>
          </a:xfrm>
          <a:prstGeom prst="rect">
            <a:avLst/>
          </a:prstGeom>
        </p:spPr>
        <p:txBody>
          <a:bodyPr lIns="0" tIns="0" rIns="0" bIns="0" rtlCol="0" anchor="t">
            <a:spAutoFit/>
          </a:bodyPr>
          <a:lstStyle/>
          <a:p>
            <a:pPr algn="l">
              <a:lnSpc>
                <a:spcPts val="7474"/>
              </a:lnSpc>
            </a:pPr>
            <a:r>
              <a:rPr lang="en-US" sz="6499" b="1">
                <a:solidFill>
                  <a:srgbClr val="FFFFFF"/>
                </a:solidFill>
                <a:latin typeface="TT Norms Bold"/>
                <a:ea typeface="TT Norms Bold"/>
                <a:cs typeface="TT Norms Bold"/>
                <a:sym typeface="TT Norms Bold"/>
              </a:rPr>
              <a:t>ARCHITECTURE</a:t>
            </a:r>
          </a:p>
        </p:txBody>
      </p:sp>
      <p:sp>
        <p:nvSpPr>
          <p:cNvPr id="8" name="TextBox 8"/>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5</a:t>
            </a:r>
          </a:p>
        </p:txBody>
      </p:sp>
      <p:sp>
        <p:nvSpPr>
          <p:cNvPr id="9" name="Freeform 9"/>
          <p:cNvSpPr/>
          <p:nvPr/>
        </p:nvSpPr>
        <p:spPr>
          <a:xfrm>
            <a:off x="16271287" y="0"/>
            <a:ext cx="2016713" cy="2016713"/>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2" name="TextBox 2"/>
          <p:cNvSpPr txBox="1"/>
          <p:nvPr/>
        </p:nvSpPr>
        <p:spPr>
          <a:xfrm>
            <a:off x="0" y="1611321"/>
            <a:ext cx="8458199" cy="1011815"/>
          </a:xfrm>
          <a:prstGeom prst="rect">
            <a:avLst/>
          </a:prstGeom>
          <a:solidFill>
            <a:srgbClr val="148293"/>
          </a:solidFill>
        </p:spPr>
        <p:txBody>
          <a:bodyPr wrap="square" lIns="0" tIns="0" rIns="0" bIns="0" rtlCol="0" anchor="t">
            <a:spAutoFit/>
          </a:bodyPr>
          <a:lstStyle/>
          <a:p>
            <a:pPr marL="685800" indent="-685800" algn="l">
              <a:lnSpc>
                <a:spcPts val="8578"/>
              </a:lnSpc>
              <a:buFont typeface="Wingdings" panose="05000000000000000000" pitchFamily="2" charset="2"/>
              <a:buChar char="q"/>
            </a:pPr>
            <a:r>
              <a:rPr lang="en-US" sz="4800" b="1" dirty="0">
                <a:solidFill>
                  <a:srgbClr val="23403D"/>
                </a:solidFill>
                <a:latin typeface="TT Norms Bold"/>
                <a:ea typeface="TT Norms Bold"/>
                <a:cs typeface="TT Norms Bold"/>
                <a:sym typeface="TT Norms Bold"/>
              </a:rPr>
              <a:t>Proposed Architecture:</a:t>
            </a:r>
          </a:p>
        </p:txBody>
      </p:sp>
      <p:pic>
        <p:nvPicPr>
          <p:cNvPr id="52" name="Picture 51">
            <a:extLst>
              <a:ext uri="{FF2B5EF4-FFF2-40B4-BE49-F238E27FC236}">
                <a16:creationId xmlns:a16="http://schemas.microsoft.com/office/drawing/2014/main" id="{7E7A9ED9-158C-A248-031E-BC8B0A14D4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50" y="2836000"/>
            <a:ext cx="18230850" cy="7254953"/>
          </a:xfrm>
          <a:prstGeom prst="rect">
            <a:avLst/>
          </a:prstGeom>
        </p:spPr>
      </p:pic>
      <p:sp>
        <p:nvSpPr>
          <p:cNvPr id="53" name="TextBox 52">
            <a:extLst>
              <a:ext uri="{FF2B5EF4-FFF2-40B4-BE49-F238E27FC236}">
                <a16:creationId xmlns:a16="http://schemas.microsoft.com/office/drawing/2014/main" id="{385AE030-0098-5AFA-62BB-E155E4DC9AF8}"/>
              </a:ext>
            </a:extLst>
          </p:cNvPr>
          <p:cNvSpPr txBox="1"/>
          <p:nvPr/>
        </p:nvSpPr>
        <p:spPr>
          <a:xfrm>
            <a:off x="2819400" y="2819263"/>
            <a:ext cx="1533140" cy="369332"/>
          </a:xfrm>
          <a:prstGeom prst="rect">
            <a:avLst/>
          </a:prstGeom>
          <a:noFill/>
        </p:spPr>
        <p:txBody>
          <a:bodyPr wrap="square" rtlCol="0">
            <a:spAutoFit/>
          </a:bodyPr>
          <a:lstStyle/>
          <a:p>
            <a:r>
              <a:rPr lang="en-IN" dirty="0"/>
              <a:t>SENSORS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750957" y="-1857849"/>
            <a:ext cx="18379715" cy="3378674"/>
            <a:chOff x="0" y="0"/>
            <a:chExt cx="1673415" cy="307618"/>
          </a:xfrm>
        </p:grpSpPr>
        <p:sp>
          <p:nvSpPr>
            <p:cNvPr id="4" name="Freeform 4"/>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5" name="TextBox 5"/>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44600" y="262722"/>
            <a:ext cx="11696565" cy="955675"/>
          </a:xfrm>
          <a:prstGeom prst="rect">
            <a:avLst/>
          </a:prstGeom>
        </p:spPr>
        <p:txBody>
          <a:bodyPr lIns="0" tIns="0" rIns="0" bIns="0" rtlCol="0" anchor="t">
            <a:spAutoFit/>
          </a:bodyPr>
          <a:lstStyle/>
          <a:p>
            <a:pPr algn="l">
              <a:lnSpc>
                <a:spcPts val="7474"/>
              </a:lnSpc>
            </a:pPr>
            <a:r>
              <a:rPr lang="en-US" sz="6499" b="1">
                <a:solidFill>
                  <a:srgbClr val="FFFFFF"/>
                </a:solidFill>
                <a:latin typeface="TT Norms Bold"/>
                <a:ea typeface="TT Norms Bold"/>
                <a:cs typeface="TT Norms Bold"/>
                <a:sym typeface="TT Norms Bold"/>
              </a:rPr>
              <a:t>FEASIBILITY AND VIABILITY</a:t>
            </a:r>
          </a:p>
        </p:txBody>
      </p:sp>
      <p:sp>
        <p:nvSpPr>
          <p:cNvPr id="8" name="TextBox 8"/>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6</a:t>
            </a:r>
          </a:p>
        </p:txBody>
      </p:sp>
      <p:sp>
        <p:nvSpPr>
          <p:cNvPr id="9" name="Freeform 9"/>
          <p:cNvSpPr/>
          <p:nvPr/>
        </p:nvSpPr>
        <p:spPr>
          <a:xfrm>
            <a:off x="16742700" y="0"/>
            <a:ext cx="1600200" cy="1409700"/>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11" name="TextBox 10">
            <a:extLst>
              <a:ext uri="{FF2B5EF4-FFF2-40B4-BE49-F238E27FC236}">
                <a16:creationId xmlns:a16="http://schemas.microsoft.com/office/drawing/2014/main" id="{1F9C901A-F772-7EC6-575F-02D304969EFD}"/>
              </a:ext>
            </a:extLst>
          </p:cNvPr>
          <p:cNvSpPr txBox="1"/>
          <p:nvPr/>
        </p:nvSpPr>
        <p:spPr>
          <a:xfrm>
            <a:off x="-19531" y="1671231"/>
            <a:ext cx="7467600"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800" dirty="0">
                <a:solidFill>
                  <a:srgbClr val="000000"/>
                </a:solidFill>
                <a:latin typeface="TT Norms"/>
                <a:ea typeface="TT Norms"/>
                <a:cs typeface="TT Norms"/>
                <a:sym typeface="TT Norms"/>
              </a:rPr>
              <a:t>Feasibility analysis of the proposed idea</a:t>
            </a:r>
            <a:r>
              <a:rPr lang="en-IN" sz="2800" dirty="0">
                <a:solidFill>
                  <a:srgbClr val="000000"/>
                </a:solidFill>
                <a:latin typeface="TT Norms"/>
                <a:ea typeface="TT Norms"/>
                <a:cs typeface="TT Norms"/>
                <a:sym typeface="TT Norms"/>
              </a:rPr>
              <a:t>:</a:t>
            </a:r>
            <a:endParaRPr lang="en-US" sz="2800" dirty="0">
              <a:solidFill>
                <a:srgbClr val="000000"/>
              </a:solidFill>
              <a:latin typeface="TT Norms"/>
              <a:ea typeface="TT Norms"/>
              <a:cs typeface="TT Norms"/>
              <a:sym typeface="TT Norms"/>
            </a:endParaRPr>
          </a:p>
        </p:txBody>
      </p:sp>
      <p:sp>
        <p:nvSpPr>
          <p:cNvPr id="13" name="Rectangle 1">
            <a:extLst>
              <a:ext uri="{FF2B5EF4-FFF2-40B4-BE49-F238E27FC236}">
                <a16:creationId xmlns:a16="http://schemas.microsoft.com/office/drawing/2014/main" id="{2C4BC413-5E42-81E9-E520-1492CA455A44}"/>
              </a:ext>
            </a:extLst>
          </p:cNvPr>
          <p:cNvSpPr>
            <a:spLocks noChangeArrowheads="1"/>
          </p:cNvSpPr>
          <p:nvPr/>
        </p:nvSpPr>
        <p:spPr bwMode="auto">
          <a:xfrm>
            <a:off x="137561" y="2172048"/>
            <a:ext cx="746759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Uses low-cost</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easily available hardware (ESP32 with standard sensors)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Relies on proven, industry-standard protocols (MQTT, HTTP) and open-source platforms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Real-time data processing comfortably handled by ESP32 (algorithm latency &lt; 100 </a:t>
            </a:r>
            <a:r>
              <a:rPr kumimoji="0" lang="en-US" altLang="en-US" sz="2400" b="0" i="0" u="none" strike="noStrike" cap="none" normalizeH="0" baseline="0" dirty="0" err="1">
                <a:ln>
                  <a:noFill/>
                </a:ln>
                <a:solidFill>
                  <a:schemeClr val="tx1"/>
                </a:solidFill>
                <a:effectLst/>
                <a:latin typeface="Arial" panose="020B0604020202020204" pitchFamily="34" charset="0"/>
              </a:rPr>
              <a:t>ms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Non-intrusive design allows easy integration with existing motors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Scalable architecture suitable for single or multiple motor setups</a:t>
            </a:r>
          </a:p>
        </p:txBody>
      </p:sp>
      <p:sp>
        <p:nvSpPr>
          <p:cNvPr id="14" name="TextBox 13">
            <a:extLst>
              <a:ext uri="{FF2B5EF4-FFF2-40B4-BE49-F238E27FC236}">
                <a16:creationId xmlns:a16="http://schemas.microsoft.com/office/drawing/2014/main" id="{F4A49C30-22B0-3882-C680-2B4ED2A789E4}"/>
              </a:ext>
            </a:extLst>
          </p:cNvPr>
          <p:cNvSpPr txBox="1"/>
          <p:nvPr/>
        </p:nvSpPr>
        <p:spPr>
          <a:xfrm>
            <a:off x="-19531" y="5942777"/>
            <a:ext cx="7939638"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800" dirty="0">
                <a:solidFill>
                  <a:srgbClr val="000000"/>
                </a:solidFill>
                <a:latin typeface="TT Norms"/>
                <a:ea typeface="TT Norms"/>
                <a:cs typeface="TT Norms"/>
                <a:sym typeface="TT Norms"/>
              </a:rPr>
              <a:t>Identification of potential challenges and risks</a:t>
            </a:r>
            <a:r>
              <a:rPr lang="en-IN" sz="2800" dirty="0">
                <a:solidFill>
                  <a:srgbClr val="000000"/>
                </a:solidFill>
                <a:latin typeface="TT Norms"/>
                <a:ea typeface="TT Norms"/>
                <a:cs typeface="TT Norms"/>
                <a:sym typeface="TT Norms"/>
              </a:rPr>
              <a:t>:</a:t>
            </a:r>
            <a:endParaRPr lang="en-US" sz="2800" dirty="0">
              <a:solidFill>
                <a:srgbClr val="000000"/>
              </a:solidFill>
              <a:latin typeface="TT Norms"/>
              <a:ea typeface="TT Norms"/>
              <a:cs typeface="TT Norms"/>
              <a:sym typeface="TT Norms"/>
            </a:endParaRPr>
          </a:p>
        </p:txBody>
      </p:sp>
      <p:sp>
        <p:nvSpPr>
          <p:cNvPr id="16" name="Rectangle 2">
            <a:extLst>
              <a:ext uri="{FF2B5EF4-FFF2-40B4-BE49-F238E27FC236}">
                <a16:creationId xmlns:a16="http://schemas.microsoft.com/office/drawing/2014/main" id="{10FF023D-3A6D-6C27-28E1-20451F21D1E0}"/>
              </a:ext>
            </a:extLst>
          </p:cNvPr>
          <p:cNvSpPr>
            <a:spLocks noChangeArrowheads="1"/>
          </p:cNvSpPr>
          <p:nvPr/>
        </p:nvSpPr>
        <p:spPr bwMode="auto">
          <a:xfrm>
            <a:off x="137562" y="6451074"/>
            <a:ext cx="793963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Sensor noise, drift, and calibration errors may reduce measurement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Harsh industrial conditions (heat, vibration, EMI) can affect sensor reliability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Unstable Wi-Fi/network may interrupt cloud data transmission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Risk of false positives or missed faults during early fault-learning phase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Requires periodic maintenance and recalibration for long-term accuracy</a:t>
            </a:r>
          </a:p>
        </p:txBody>
      </p:sp>
      <p:graphicFrame>
        <p:nvGraphicFramePr>
          <p:cNvPr id="17" name="Table 16">
            <a:extLst>
              <a:ext uri="{FF2B5EF4-FFF2-40B4-BE49-F238E27FC236}">
                <a16:creationId xmlns:a16="http://schemas.microsoft.com/office/drawing/2014/main" id="{93FEEE4D-B4FE-0EE1-7A5C-1E1E4A51D0E4}"/>
              </a:ext>
            </a:extLst>
          </p:cNvPr>
          <p:cNvGraphicFramePr>
            <a:graphicFrameLocks noGrp="1"/>
          </p:cNvGraphicFramePr>
          <p:nvPr>
            <p:extLst>
              <p:ext uri="{D42A27DB-BD31-4B8C-83A1-F6EECF244321}">
                <p14:modId xmlns:p14="http://schemas.microsoft.com/office/powerpoint/2010/main" val="1031520657"/>
              </p:ext>
            </p:extLst>
          </p:nvPr>
        </p:nvGraphicFramePr>
        <p:xfrm>
          <a:off x="8686800" y="2455982"/>
          <a:ext cx="9220200" cy="7107119"/>
        </p:xfrm>
        <a:graphic>
          <a:graphicData uri="http://schemas.openxmlformats.org/drawingml/2006/table">
            <a:tbl>
              <a:tblPr firstRow="1" firstCol="1" bandRow="1">
                <a:tableStyleId>{5C22544A-7EE6-4342-B048-85BDC9FD1C3A}</a:tableStyleId>
              </a:tblPr>
              <a:tblGrid>
                <a:gridCol w="3073400">
                  <a:extLst>
                    <a:ext uri="{9D8B030D-6E8A-4147-A177-3AD203B41FA5}">
                      <a16:colId xmlns:a16="http://schemas.microsoft.com/office/drawing/2014/main" val="526863246"/>
                    </a:ext>
                  </a:extLst>
                </a:gridCol>
                <a:gridCol w="3073400">
                  <a:extLst>
                    <a:ext uri="{9D8B030D-6E8A-4147-A177-3AD203B41FA5}">
                      <a16:colId xmlns:a16="http://schemas.microsoft.com/office/drawing/2014/main" val="963889752"/>
                    </a:ext>
                  </a:extLst>
                </a:gridCol>
                <a:gridCol w="3073400">
                  <a:extLst>
                    <a:ext uri="{9D8B030D-6E8A-4147-A177-3AD203B41FA5}">
                      <a16:colId xmlns:a16="http://schemas.microsoft.com/office/drawing/2014/main" val="3859287355"/>
                    </a:ext>
                  </a:extLst>
                </a:gridCol>
              </a:tblGrid>
              <a:tr h="573001">
                <a:tc>
                  <a:txBody>
                    <a:bodyPr/>
                    <a:lstStyle/>
                    <a:p>
                      <a:pPr algn="ctr">
                        <a:lnSpc>
                          <a:spcPct val="107000"/>
                        </a:lnSpc>
                        <a:spcAft>
                          <a:spcPts val="800"/>
                        </a:spcAft>
                        <a:buNone/>
                      </a:pPr>
                      <a:r>
                        <a:rPr lang="en-IN" sz="2000" kern="100" dirty="0">
                          <a:effectLst/>
                        </a:rPr>
                        <a:t>Challenge / Risk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rgbClr val="419AA8"/>
                    </a:solidFill>
                  </a:tcPr>
                </a:tc>
                <a:tc>
                  <a:txBody>
                    <a:bodyPr/>
                    <a:lstStyle/>
                    <a:p>
                      <a:pPr algn="ctr">
                        <a:lnSpc>
                          <a:spcPct val="107000"/>
                        </a:lnSpc>
                        <a:spcAft>
                          <a:spcPts val="800"/>
                        </a:spcAft>
                        <a:buNone/>
                      </a:pPr>
                      <a:r>
                        <a:rPr lang="en-IN" sz="2000" kern="100" dirty="0">
                          <a:solidFill>
                            <a:schemeClr val="tx1"/>
                          </a:solidFill>
                          <a:effectLst/>
                        </a:rPr>
                        <a:t>What we do (Mitigation)</a:t>
                      </a:r>
                      <a:endParaRPr lang="en-IN"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chemeClr val="accent5">
                        <a:lumMod val="60000"/>
                        <a:lumOff val="40000"/>
                      </a:schemeClr>
                    </a:solidFill>
                  </a:tcPr>
                </a:tc>
                <a:tc>
                  <a:txBody>
                    <a:bodyPr/>
                    <a:lstStyle/>
                    <a:p>
                      <a:pPr algn="ctr">
                        <a:lnSpc>
                          <a:spcPct val="107000"/>
                        </a:lnSpc>
                        <a:spcAft>
                          <a:spcPts val="800"/>
                        </a:spcAft>
                        <a:buNone/>
                      </a:pPr>
                      <a:r>
                        <a:rPr lang="en-IN" sz="2000" kern="100" dirty="0">
                          <a:solidFill>
                            <a:schemeClr val="tx1"/>
                          </a:solidFill>
                          <a:effectLst/>
                        </a:rPr>
                        <a:t>Effect / Impact</a:t>
                      </a:r>
                      <a:endParaRPr lang="en-IN"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solidFill>
                      <a:schemeClr val="accent5">
                        <a:lumMod val="60000"/>
                        <a:lumOff val="40000"/>
                      </a:schemeClr>
                    </a:solidFill>
                  </a:tcPr>
                </a:tc>
                <a:extLst>
                  <a:ext uri="{0D108BD9-81ED-4DB2-BD59-A6C34878D82A}">
                    <a16:rowId xmlns:a16="http://schemas.microsoft.com/office/drawing/2014/main" val="2366863403"/>
                  </a:ext>
                </a:extLst>
              </a:tr>
              <a:tr h="1120650">
                <a:tc>
                  <a:txBody>
                    <a:bodyPr/>
                    <a:lstStyle/>
                    <a:p>
                      <a:pPr algn="ctr">
                        <a:lnSpc>
                          <a:spcPct val="107000"/>
                        </a:lnSpc>
                        <a:spcAft>
                          <a:spcPts val="800"/>
                        </a:spcAft>
                        <a:buNone/>
                      </a:pPr>
                      <a:r>
                        <a:rPr lang="en-IN" sz="1600" kern="100" dirty="0">
                          <a:effectLst/>
                        </a:rPr>
                        <a:t>Sensor noise or wrong readings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Calibrate sensors regularly, use simple filters to smooth data</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Readings become more accurate and stable</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628671489"/>
                  </a:ext>
                </a:extLst>
              </a:tr>
              <a:tr h="1120650">
                <a:tc>
                  <a:txBody>
                    <a:bodyPr/>
                    <a:lstStyle/>
                    <a:p>
                      <a:pPr algn="ctr">
                        <a:lnSpc>
                          <a:spcPct val="107000"/>
                        </a:lnSpc>
                        <a:spcAft>
                          <a:spcPts val="800"/>
                        </a:spcAft>
                        <a:buNone/>
                      </a:pPr>
                      <a:r>
                        <a:rPr lang="en-IN" sz="1600" kern="100" dirty="0">
                          <a:effectLst/>
                        </a:rPr>
                        <a:t>Hot, noisy, vibrating factory environment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Put sensors and ESP32 in a strong box, fix them firmly, add grounding/shielding</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Hardware lasts longer, fewer failures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1685398091"/>
                  </a:ext>
                </a:extLst>
              </a:tr>
              <a:tr h="1335239">
                <a:tc>
                  <a:txBody>
                    <a:bodyPr/>
                    <a:lstStyle/>
                    <a:p>
                      <a:pPr algn="ctr">
                        <a:lnSpc>
                          <a:spcPct val="107000"/>
                        </a:lnSpc>
                        <a:spcAft>
                          <a:spcPts val="800"/>
                        </a:spcAft>
                        <a:buNone/>
                      </a:pPr>
                      <a:r>
                        <a:rPr lang="en-IN" sz="1600" kern="100" dirty="0">
                          <a:effectLst/>
                        </a:rPr>
                        <a:t>Weak or unstable </a:t>
                      </a:r>
                      <a:r>
                        <a:rPr lang="en-IN" sz="1600" kern="100" dirty="0" err="1">
                          <a:effectLst/>
                        </a:rPr>
                        <a:t>WiFi</a:t>
                      </a:r>
                      <a:r>
                        <a:rPr lang="en-IN" sz="1600" kern="100" dirty="0">
                          <a:effectLst/>
                        </a:rPr>
                        <a:t> / internet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Take all safety decisions locally on ESP32, store data and resend when </a:t>
                      </a:r>
                      <a:r>
                        <a:rPr lang="en-IN" sz="1600" kern="100" dirty="0" err="1">
                          <a:effectLst/>
                        </a:rPr>
                        <a:t>WiFi</a:t>
                      </a:r>
                      <a:r>
                        <a:rPr lang="en-IN" sz="1600" kern="100" dirty="0">
                          <a:effectLst/>
                        </a:rPr>
                        <a:t> is back</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System keeps working even if network fails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395091912"/>
                  </a:ext>
                </a:extLst>
              </a:tr>
              <a:tr h="1453890">
                <a:tc>
                  <a:txBody>
                    <a:bodyPr/>
                    <a:lstStyle/>
                    <a:p>
                      <a:pPr algn="ctr">
                        <a:lnSpc>
                          <a:spcPct val="107000"/>
                        </a:lnSpc>
                        <a:spcAft>
                          <a:spcPts val="800"/>
                        </a:spcAft>
                        <a:buNone/>
                      </a:pPr>
                      <a:r>
                        <a:rPr lang="en-IN" sz="1600" kern="100" dirty="0">
                          <a:effectLst/>
                        </a:rPr>
                        <a:t>Too many false alarms or missed faults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Test on real motors, slowly adjust limits, use values suggested by standards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Fewer wrong alarms, more trusted alerts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3744692133"/>
                  </a:ext>
                </a:extLst>
              </a:tr>
              <a:tr h="1503689">
                <a:tc>
                  <a:txBody>
                    <a:bodyPr/>
                    <a:lstStyle/>
                    <a:p>
                      <a:pPr algn="ctr">
                        <a:lnSpc>
                          <a:spcPct val="107000"/>
                        </a:lnSpc>
                        <a:spcAft>
                          <a:spcPts val="800"/>
                        </a:spcAft>
                        <a:buNone/>
                      </a:pPr>
                      <a:r>
                        <a:rPr lang="en-IN" sz="1600" kern="100" dirty="0">
                          <a:effectLst/>
                        </a:rPr>
                        <a:t>Sudden power cuts or voltage dips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rgbClr val="419AA8"/>
                    </a:solidFill>
                  </a:tcPr>
                </a:tc>
                <a:tc>
                  <a:txBody>
                    <a:bodyPr/>
                    <a:lstStyle/>
                    <a:p>
                      <a:pPr algn="ctr">
                        <a:lnSpc>
                          <a:spcPct val="107000"/>
                        </a:lnSpc>
                        <a:spcAft>
                          <a:spcPts val="800"/>
                        </a:spcAft>
                        <a:buNone/>
                      </a:pPr>
                      <a:r>
                        <a:rPr lang="en-IN" sz="1600" kern="100" dirty="0">
                          <a:effectLst/>
                        </a:rPr>
                        <a:t>Use good power supply, surge protection, brown‑out detection and safe restart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tc>
                  <a:txBody>
                    <a:bodyPr/>
                    <a:lstStyle/>
                    <a:p>
                      <a:pPr algn="ctr">
                        <a:lnSpc>
                          <a:spcPct val="107000"/>
                        </a:lnSpc>
                        <a:spcAft>
                          <a:spcPts val="800"/>
                        </a:spcAft>
                        <a:buNone/>
                      </a:pPr>
                      <a:r>
                        <a:rPr lang="en-IN" sz="1600" kern="100" dirty="0">
                          <a:effectLst/>
                        </a:rPr>
                        <a:t>Avoids random resets and data loss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86995" marB="86995" anchor="ctr">
                    <a:solidFill>
                      <a:schemeClr val="accent5">
                        <a:lumMod val="60000"/>
                        <a:lumOff val="40000"/>
                      </a:schemeClr>
                    </a:solidFill>
                  </a:tcPr>
                </a:tc>
                <a:extLst>
                  <a:ext uri="{0D108BD9-81ED-4DB2-BD59-A6C34878D82A}">
                    <a16:rowId xmlns:a16="http://schemas.microsoft.com/office/drawing/2014/main" val="520401026"/>
                  </a:ext>
                </a:extLst>
              </a:tr>
            </a:tbl>
          </a:graphicData>
        </a:graphic>
      </p:graphicFrame>
      <p:sp>
        <p:nvSpPr>
          <p:cNvPr id="19" name="TextBox 18">
            <a:extLst>
              <a:ext uri="{FF2B5EF4-FFF2-40B4-BE49-F238E27FC236}">
                <a16:creationId xmlns:a16="http://schemas.microsoft.com/office/drawing/2014/main" id="{80E2F929-FC25-B8CE-AE7B-D65E4FA4E1DD}"/>
              </a:ext>
            </a:extLst>
          </p:cNvPr>
          <p:cNvSpPr txBox="1"/>
          <p:nvPr/>
        </p:nvSpPr>
        <p:spPr>
          <a:xfrm>
            <a:off x="8229600" y="1671231"/>
            <a:ext cx="9829800"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800" dirty="0">
                <a:solidFill>
                  <a:srgbClr val="000000"/>
                </a:solidFill>
                <a:latin typeface="TT Norms"/>
                <a:ea typeface="TT Norms"/>
                <a:cs typeface="TT Norms"/>
                <a:sym typeface="TT Norms"/>
              </a:rPr>
              <a:t>Strategies and action plans to overcome these challenges</a:t>
            </a:r>
            <a:r>
              <a:rPr lang="en-IN" sz="2800" dirty="0">
                <a:solidFill>
                  <a:srgbClr val="000000"/>
                </a:solidFill>
                <a:latin typeface="TT Norms"/>
                <a:ea typeface="TT Norms"/>
                <a:cs typeface="TT Norms"/>
                <a:sym typeface="TT Norms"/>
              </a:rPr>
              <a:t>:</a:t>
            </a:r>
            <a:endParaRPr lang="en-US" sz="2800" dirty="0">
              <a:solidFill>
                <a:srgbClr val="000000"/>
              </a:solidFill>
              <a:latin typeface="TT Norms"/>
              <a:ea typeface="TT Norms"/>
              <a:cs typeface="TT Norms"/>
              <a:sym typeface="TT Nor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034133" y="-1957600"/>
            <a:ext cx="18379715" cy="3378674"/>
            <a:chOff x="0" y="0"/>
            <a:chExt cx="1673415" cy="307618"/>
          </a:xfrm>
        </p:grpSpPr>
        <p:sp>
          <p:nvSpPr>
            <p:cNvPr id="4" name="Freeform 4"/>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5" name="TextBox 5"/>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6" name="Freeform 6"/>
          <p:cNvSpPr/>
          <p:nvPr/>
        </p:nvSpPr>
        <p:spPr>
          <a:xfrm rot="-4021186" flipH="1">
            <a:off x="-2094150" y="-580015"/>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44600" y="262722"/>
            <a:ext cx="11696565" cy="955675"/>
          </a:xfrm>
          <a:prstGeom prst="rect">
            <a:avLst/>
          </a:prstGeom>
        </p:spPr>
        <p:txBody>
          <a:bodyPr lIns="0" tIns="0" rIns="0" bIns="0" rtlCol="0" anchor="t">
            <a:spAutoFit/>
          </a:bodyPr>
          <a:lstStyle/>
          <a:p>
            <a:pPr algn="l">
              <a:lnSpc>
                <a:spcPts val="7474"/>
              </a:lnSpc>
            </a:pPr>
            <a:r>
              <a:rPr lang="en-US" sz="6499" b="1">
                <a:solidFill>
                  <a:srgbClr val="FFFFFF"/>
                </a:solidFill>
                <a:latin typeface="TT Norms Bold"/>
                <a:ea typeface="TT Norms Bold"/>
                <a:cs typeface="TT Norms Bold"/>
                <a:sym typeface="TT Norms Bold"/>
              </a:rPr>
              <a:t>IMPACT AND BENEFITS</a:t>
            </a:r>
          </a:p>
        </p:txBody>
      </p:sp>
      <p:sp>
        <p:nvSpPr>
          <p:cNvPr id="8" name="TextBox 8"/>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7</a:t>
            </a:r>
          </a:p>
        </p:txBody>
      </p:sp>
      <p:sp>
        <p:nvSpPr>
          <p:cNvPr id="9" name="Freeform 9"/>
          <p:cNvSpPr/>
          <p:nvPr/>
        </p:nvSpPr>
        <p:spPr>
          <a:xfrm>
            <a:off x="16595030" y="-130411"/>
            <a:ext cx="1757966" cy="1540112"/>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sp>
        <p:nvSpPr>
          <p:cNvPr id="10" name="TextBox 9">
            <a:extLst>
              <a:ext uri="{FF2B5EF4-FFF2-40B4-BE49-F238E27FC236}">
                <a16:creationId xmlns:a16="http://schemas.microsoft.com/office/drawing/2014/main" id="{D2EEFB65-17AD-6045-C6D1-23891372B057}"/>
              </a:ext>
            </a:extLst>
          </p:cNvPr>
          <p:cNvSpPr txBox="1"/>
          <p:nvPr/>
        </p:nvSpPr>
        <p:spPr>
          <a:xfrm>
            <a:off x="-21188" y="1623751"/>
            <a:ext cx="7543800" cy="523220"/>
          </a:xfrm>
          <a:prstGeom prst="rect">
            <a:avLst/>
          </a:prstGeom>
          <a:solidFill>
            <a:srgbClr val="419AA8"/>
          </a:solidFill>
        </p:spPr>
        <p:txBody>
          <a:bodyPr wrap="square" rtlCol="0">
            <a:spAutoFit/>
          </a:bodyPr>
          <a:lstStyle/>
          <a:p>
            <a:pPr marL="285750" indent="-285750">
              <a:buFont typeface="Wingdings" panose="05000000000000000000" pitchFamily="2" charset="2"/>
              <a:buChar char="q"/>
            </a:pPr>
            <a:r>
              <a:rPr lang="en-US" sz="2800" dirty="0">
                <a:solidFill>
                  <a:srgbClr val="000000"/>
                </a:solidFill>
                <a:latin typeface="TT Norms Bold" panose="020B0604020202020204" charset="0"/>
                <a:ea typeface="TT Norms"/>
                <a:cs typeface="TT Norms"/>
                <a:sym typeface="TT Norms"/>
              </a:rPr>
              <a:t>Expected impact on the target audience</a:t>
            </a:r>
            <a:r>
              <a:rPr lang="en-IN" sz="2800" dirty="0">
                <a:solidFill>
                  <a:srgbClr val="000000"/>
                </a:solidFill>
                <a:latin typeface="TT Norms Bold" panose="020B0604020202020204" charset="0"/>
                <a:ea typeface="TT Norms"/>
                <a:cs typeface="TT Norms"/>
                <a:sym typeface="TT Norms"/>
              </a:rPr>
              <a:t>:</a:t>
            </a:r>
            <a:endParaRPr lang="en-US" sz="2800" dirty="0">
              <a:solidFill>
                <a:srgbClr val="000000"/>
              </a:solidFill>
              <a:latin typeface="TT Norms Bold" panose="020B0604020202020204" charset="0"/>
              <a:ea typeface="TT Norms"/>
              <a:cs typeface="TT Norms"/>
              <a:sym typeface="TT Norms"/>
            </a:endParaRPr>
          </a:p>
        </p:txBody>
      </p:sp>
      <p:sp>
        <p:nvSpPr>
          <p:cNvPr id="12" name="TextBox 11">
            <a:extLst>
              <a:ext uri="{FF2B5EF4-FFF2-40B4-BE49-F238E27FC236}">
                <a16:creationId xmlns:a16="http://schemas.microsoft.com/office/drawing/2014/main" id="{447AAF16-39D3-9271-581C-CDD105B4437C}"/>
              </a:ext>
            </a:extLst>
          </p:cNvPr>
          <p:cNvSpPr txBox="1"/>
          <p:nvPr/>
        </p:nvSpPr>
        <p:spPr>
          <a:xfrm>
            <a:off x="169312" y="2078096"/>
            <a:ext cx="7162800" cy="830997"/>
          </a:xfrm>
          <a:prstGeom prst="rect">
            <a:avLst/>
          </a:prstGeom>
          <a:noFill/>
        </p:spPr>
        <p:txBody>
          <a:bodyPr wrap="square">
            <a:spAutoFit/>
          </a:bodyPr>
          <a:lstStyle/>
          <a:p>
            <a:pPr algn="ctr">
              <a:buNone/>
            </a:pPr>
            <a:r>
              <a:rPr lang="en-US" sz="2400" b="1" dirty="0"/>
              <a:t>(</a:t>
            </a:r>
            <a:r>
              <a:rPr lang="en-US" sz="2400" b="1" dirty="0">
                <a:latin typeface="Arial" panose="020B0604020202020204" pitchFamily="34" charset="0"/>
                <a:cs typeface="Arial" panose="020B0604020202020204" pitchFamily="34" charset="0"/>
              </a:rPr>
              <a:t>Industries &amp; Maintenance Teams)</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13" name="Rectangle 1">
            <a:extLst>
              <a:ext uri="{FF2B5EF4-FFF2-40B4-BE49-F238E27FC236}">
                <a16:creationId xmlns:a16="http://schemas.microsoft.com/office/drawing/2014/main" id="{0A56B624-AD34-BD48-A9B6-A1DFF22B9683}"/>
              </a:ext>
            </a:extLst>
          </p:cNvPr>
          <p:cNvSpPr>
            <a:spLocks noChangeArrowheads="1"/>
          </p:cNvSpPr>
          <p:nvPr/>
        </p:nvSpPr>
        <p:spPr bwMode="auto">
          <a:xfrm>
            <a:off x="210716" y="2349648"/>
            <a:ext cx="8168592" cy="8279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Fewer sudden motor failures and emergency breakdowns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Predictive, planned maintenance replaces reactive repairs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Reduced downtime and improved production continuity</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Early fault detection prevents major motor and equipment damage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Improved worker safety by avoiding overheating and mechanical failures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Lower maintenance costs through optimized spare-parts planning</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Reduced stress and workload on maintenance teams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Higher confidence in machine health and reliability</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Improved energy efficiency by preventing inefficient operation</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Extended motor lifespan and reduced replacement needs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Environment-friendly operation with less waste and energy loss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Overall improvement in plant productivity, safety, and sustainability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32C9F570-09AC-71CD-3B66-7B3ABE2BF158}"/>
              </a:ext>
            </a:extLst>
          </p:cNvPr>
          <p:cNvSpPr txBox="1"/>
          <p:nvPr/>
        </p:nvSpPr>
        <p:spPr>
          <a:xfrm>
            <a:off x="8533622" y="1623751"/>
            <a:ext cx="8369608" cy="523220"/>
          </a:xfrm>
          <a:prstGeom prst="rect">
            <a:avLst/>
          </a:prstGeom>
          <a:solidFill>
            <a:srgbClr val="419AA8"/>
          </a:solidFill>
        </p:spPr>
        <p:txBody>
          <a:bodyPr wrap="square" rtlCol="0">
            <a:spAutoFit/>
          </a:bodyPr>
          <a:lstStyle/>
          <a:p>
            <a:pPr marL="342900" indent="-342900">
              <a:buFont typeface="Wingdings" panose="05000000000000000000" pitchFamily="2" charset="2"/>
              <a:buChar char="q"/>
            </a:pPr>
            <a:r>
              <a:rPr lang="en-US" sz="2800" dirty="0">
                <a:solidFill>
                  <a:srgbClr val="000000"/>
                </a:solidFill>
                <a:latin typeface="TT Norms Bold" panose="020B0604020202020204" charset="0"/>
                <a:ea typeface="TT Norms"/>
                <a:cs typeface="TT Norms"/>
                <a:sym typeface="TT Norms"/>
              </a:rPr>
              <a:t>Key</a:t>
            </a:r>
            <a:r>
              <a:rPr lang="en-US" sz="2800" dirty="0">
                <a:solidFill>
                  <a:srgbClr val="000000"/>
                </a:solidFill>
                <a:latin typeface="TT Norms"/>
                <a:ea typeface="TT Norms"/>
                <a:cs typeface="TT Norms"/>
                <a:sym typeface="TT Norms"/>
              </a:rPr>
              <a:t> </a:t>
            </a:r>
            <a:r>
              <a:rPr lang="en-US" sz="2800" dirty="0">
                <a:solidFill>
                  <a:srgbClr val="000000"/>
                </a:solidFill>
                <a:latin typeface="TT Norms Bold" panose="020B0604020202020204" charset="0"/>
                <a:ea typeface="TT Norms"/>
                <a:cs typeface="TT Norms"/>
                <a:sym typeface="TT Norms"/>
              </a:rPr>
              <a:t>benefits of the solution :</a:t>
            </a:r>
          </a:p>
        </p:txBody>
      </p:sp>
      <p:sp>
        <p:nvSpPr>
          <p:cNvPr id="15" name="TextBox 14">
            <a:extLst>
              <a:ext uri="{FF2B5EF4-FFF2-40B4-BE49-F238E27FC236}">
                <a16:creationId xmlns:a16="http://schemas.microsoft.com/office/drawing/2014/main" id="{D2BB1ABD-A6AD-B8C8-A5D0-0B996AF34134}"/>
              </a:ext>
            </a:extLst>
          </p:cNvPr>
          <p:cNvSpPr txBox="1"/>
          <p:nvPr/>
        </p:nvSpPr>
        <p:spPr>
          <a:xfrm>
            <a:off x="9706782" y="2111677"/>
            <a:ext cx="5638800" cy="461665"/>
          </a:xfrm>
          <a:prstGeom prst="rect">
            <a:avLst/>
          </a:prstGeom>
          <a:noFill/>
        </p:spPr>
        <p:txBody>
          <a:bodyPr wrap="square" rtlCol="0">
            <a:spAutoFit/>
          </a:bodyPr>
          <a:lstStyle/>
          <a:p>
            <a:pPr algn="ctr"/>
            <a:r>
              <a:rPr lang="en-US" sz="2400" dirty="0">
                <a:solidFill>
                  <a:srgbClr val="000000"/>
                </a:solidFill>
                <a:latin typeface="TT Norms Bold" panose="020B0604020202020204" charset="0"/>
                <a:ea typeface="TT Norms"/>
                <a:cs typeface="TT Norms"/>
                <a:sym typeface="TT Norms"/>
              </a:rPr>
              <a:t>(social, economic, environmental, etc.)</a:t>
            </a:r>
            <a:endParaRPr lang="en-IN" sz="2400" dirty="0"/>
          </a:p>
        </p:txBody>
      </p:sp>
      <p:sp>
        <p:nvSpPr>
          <p:cNvPr id="17" name="TextBox 16">
            <a:extLst>
              <a:ext uri="{FF2B5EF4-FFF2-40B4-BE49-F238E27FC236}">
                <a16:creationId xmlns:a16="http://schemas.microsoft.com/office/drawing/2014/main" id="{19306BB4-A3C8-97F1-0F50-54C344F96095}"/>
              </a:ext>
            </a:extLst>
          </p:cNvPr>
          <p:cNvSpPr txBox="1"/>
          <p:nvPr/>
        </p:nvSpPr>
        <p:spPr>
          <a:xfrm>
            <a:off x="8654823" y="2444115"/>
            <a:ext cx="9463865" cy="7848302"/>
          </a:xfrm>
          <a:prstGeom prst="rect">
            <a:avLst/>
          </a:prstGeom>
          <a:noFill/>
        </p:spPr>
        <p:txBody>
          <a:bodyPr wrap="square" anchor="ctr">
            <a:spAutoFit/>
          </a:bodyPr>
          <a:lstStyle/>
          <a:p>
            <a:pPr marL="342900" indent="-342900">
              <a:buFont typeface="Wingdings" panose="05000000000000000000" pitchFamily="2" charset="2"/>
              <a:buChar char="ü"/>
            </a:pPr>
            <a:r>
              <a:rPr lang="en-US" sz="2400" b="1" dirty="0">
                <a:latin typeface="Arial" panose="020B0604020202020204" pitchFamily="34" charset="0"/>
                <a:cs typeface="Arial" panose="020B0604020202020204" pitchFamily="34" charset="0"/>
              </a:rPr>
              <a:t>Economic Benefits</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Reduces unplanned downtime and increases production uptime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Prevents costly motor damage and replacements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Low system cost with fast return on investment</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Improves maintenance planning and spare-parts management</a:t>
            </a:r>
          </a:p>
          <a:p>
            <a:pPr marL="342900" indent="-342900">
              <a:buFont typeface="Wingdings" panose="05000000000000000000" pitchFamily="2" charset="2"/>
              <a:buChar char="ü"/>
            </a:pPr>
            <a:r>
              <a:rPr lang="en-US" sz="2400" b="1" dirty="0">
                <a:latin typeface="Arial" panose="020B0604020202020204" pitchFamily="34" charset="0"/>
                <a:cs typeface="Arial" panose="020B0604020202020204" pitchFamily="34" charset="0"/>
              </a:rPr>
              <a:t>Social / Workplace Benefits</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Enhances worker safety by avoiding sudden motor failures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Reduces stress on maintenance teams through early warnings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Minimizes emergency and night-shift repairs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Creates a safer, more reliable work environment</a:t>
            </a:r>
          </a:p>
          <a:p>
            <a:pPr marL="342900" indent="-342900">
              <a:buFont typeface="Wingdings" panose="05000000000000000000" pitchFamily="2" charset="2"/>
              <a:buChar char="ü"/>
            </a:pPr>
            <a:r>
              <a:rPr lang="en-US" sz="2400" b="1" dirty="0">
                <a:latin typeface="Arial" panose="020B0604020202020204" pitchFamily="34" charset="0"/>
                <a:cs typeface="Arial" panose="020B0604020202020204" pitchFamily="34" charset="0"/>
              </a:rPr>
              <a:t>Environmental Benefits</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Cuts energy wastage from inefficient motor operation</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Extends motor life, reducing material waste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Lowers carbon footprint through improved efficiency</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Promotes sustainable, condition-based maintenance</a:t>
            </a:r>
          </a:p>
          <a:p>
            <a:pPr marL="342900" indent="-342900">
              <a:buFont typeface="Wingdings" panose="05000000000000000000" pitchFamily="2" charset="2"/>
              <a:buChar char="ü"/>
            </a:pPr>
            <a:r>
              <a:rPr lang="en-US" sz="2400" b="1" dirty="0">
                <a:latin typeface="Arial" panose="020B0604020202020204" pitchFamily="34" charset="0"/>
                <a:cs typeface="Arial" panose="020B0604020202020204" pitchFamily="34" charset="0"/>
              </a:rPr>
              <a:t>Operational &amp; Technical Benefits</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Enables real-time monitoring and early fault prediction</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Supports data-driven maintenance decisions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Easily integrates with existing motor setups</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Scalable across industries and motor types</a:t>
            </a:r>
          </a:p>
          <a:p>
            <a:pPr algn="just"/>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50957" y="-1857849"/>
            <a:ext cx="18379715" cy="3378674"/>
            <a:chOff x="0" y="0"/>
            <a:chExt cx="1673415" cy="307618"/>
          </a:xfrm>
        </p:grpSpPr>
        <p:sp>
          <p:nvSpPr>
            <p:cNvPr id="3" name="Freeform 3"/>
            <p:cNvSpPr/>
            <p:nvPr/>
          </p:nvSpPr>
          <p:spPr>
            <a:xfrm>
              <a:off x="6812" y="0"/>
              <a:ext cx="1659791" cy="307618"/>
            </a:xfrm>
            <a:custGeom>
              <a:avLst/>
              <a:gdLst/>
              <a:ahLst/>
              <a:cxnLst/>
              <a:rect l="l" t="t" r="r" b="b"/>
              <a:pathLst>
                <a:path w="1659791" h="307618">
                  <a:moveTo>
                    <a:pt x="211131" y="0"/>
                  </a:moveTo>
                  <a:lnTo>
                    <a:pt x="1651861" y="0"/>
                  </a:lnTo>
                  <a:cubicBezTo>
                    <a:pt x="1654779" y="0"/>
                    <a:pt x="1657462" y="1603"/>
                    <a:pt x="1658845" y="4174"/>
                  </a:cubicBezTo>
                  <a:cubicBezTo>
                    <a:pt x="1660227" y="6744"/>
                    <a:pt x="1660086" y="9866"/>
                    <a:pt x="1658478" y="12301"/>
                  </a:cubicBezTo>
                  <a:lnTo>
                    <a:pt x="1471529" y="295316"/>
                  </a:lnTo>
                  <a:cubicBezTo>
                    <a:pt x="1466456" y="302997"/>
                    <a:pt x="1457866" y="307618"/>
                    <a:pt x="1448661" y="307618"/>
                  </a:cubicBezTo>
                  <a:lnTo>
                    <a:pt x="7931" y="307618"/>
                  </a:lnTo>
                  <a:cubicBezTo>
                    <a:pt x="5012" y="307618"/>
                    <a:pt x="2329" y="306015"/>
                    <a:pt x="947" y="303444"/>
                  </a:cubicBezTo>
                  <a:cubicBezTo>
                    <a:pt x="-436" y="300874"/>
                    <a:pt x="-295" y="297752"/>
                    <a:pt x="1314" y="295316"/>
                  </a:cubicBezTo>
                  <a:lnTo>
                    <a:pt x="188262" y="12301"/>
                  </a:lnTo>
                  <a:cubicBezTo>
                    <a:pt x="193336" y="4621"/>
                    <a:pt x="201926" y="0"/>
                    <a:pt x="211131" y="0"/>
                  </a:cubicBezTo>
                  <a:close/>
                </a:path>
              </a:pathLst>
            </a:custGeom>
            <a:solidFill>
              <a:srgbClr val="148293"/>
            </a:solidFill>
          </p:spPr>
        </p:sp>
        <p:sp>
          <p:nvSpPr>
            <p:cNvPr id="4" name="TextBox 4"/>
            <p:cNvSpPr txBox="1"/>
            <p:nvPr/>
          </p:nvSpPr>
          <p:spPr>
            <a:xfrm>
              <a:off x="101600" y="-66675"/>
              <a:ext cx="1470215" cy="374293"/>
            </a:xfrm>
            <a:prstGeom prst="rect">
              <a:avLst/>
            </a:prstGeom>
          </p:spPr>
          <p:txBody>
            <a:bodyPr lIns="50800" tIns="50800" rIns="50800" bIns="50800" rtlCol="0" anchor="ctr"/>
            <a:lstStyle/>
            <a:p>
              <a:pPr algn="ctr">
                <a:lnSpc>
                  <a:spcPts val="3750"/>
                </a:lnSpc>
              </a:pPr>
              <a:endParaRPr/>
            </a:p>
          </p:txBody>
        </p:sp>
      </p:grpSp>
      <p:sp>
        <p:nvSpPr>
          <p:cNvPr id="5" name="Freeform 5"/>
          <p:cNvSpPr/>
          <p:nvPr/>
        </p:nvSpPr>
        <p:spPr>
          <a:xfrm rot="-4021186" flipH="1">
            <a:off x="-2164000" y="-580014"/>
            <a:ext cx="6677500" cy="2612572"/>
          </a:xfrm>
          <a:custGeom>
            <a:avLst/>
            <a:gdLst/>
            <a:ahLst/>
            <a:cxnLst/>
            <a:rect l="l" t="t" r="r" b="b"/>
            <a:pathLst>
              <a:path w="6677500" h="2612572">
                <a:moveTo>
                  <a:pt x="6677500" y="0"/>
                </a:moveTo>
                <a:lnTo>
                  <a:pt x="0" y="0"/>
                </a:lnTo>
                <a:lnTo>
                  <a:pt x="0" y="2612572"/>
                </a:lnTo>
                <a:lnTo>
                  <a:pt x="6677500" y="2612572"/>
                </a:lnTo>
                <a:lnTo>
                  <a:pt x="667750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601453" y="357655"/>
            <a:ext cx="13543763" cy="756285"/>
          </a:xfrm>
          <a:prstGeom prst="rect">
            <a:avLst/>
          </a:prstGeom>
        </p:spPr>
        <p:txBody>
          <a:bodyPr lIns="0" tIns="0" rIns="0" bIns="0" rtlCol="0" anchor="t">
            <a:spAutoFit/>
          </a:bodyPr>
          <a:lstStyle/>
          <a:p>
            <a:pPr algn="l">
              <a:lnSpc>
                <a:spcPts val="5865"/>
              </a:lnSpc>
            </a:pPr>
            <a:r>
              <a:rPr lang="en-US" sz="5100" b="1">
                <a:solidFill>
                  <a:srgbClr val="FFFFFF"/>
                </a:solidFill>
                <a:latin typeface="TT Norms Bold"/>
                <a:ea typeface="TT Norms Bold"/>
                <a:cs typeface="TT Norms Bold"/>
                <a:sym typeface="TT Norms Bold"/>
              </a:rPr>
              <a:t>COMPARISON WITH EXISTING SYSTEM</a:t>
            </a:r>
          </a:p>
        </p:txBody>
      </p:sp>
      <p:sp>
        <p:nvSpPr>
          <p:cNvPr id="7" name="TextBox 7"/>
          <p:cNvSpPr txBox="1"/>
          <p:nvPr/>
        </p:nvSpPr>
        <p:spPr>
          <a:xfrm>
            <a:off x="17579322" y="9847670"/>
            <a:ext cx="207660" cy="260020"/>
          </a:xfrm>
          <a:prstGeom prst="rect">
            <a:avLst/>
          </a:prstGeom>
        </p:spPr>
        <p:txBody>
          <a:bodyPr lIns="0" tIns="0" rIns="0" bIns="0" rtlCol="0" anchor="t">
            <a:spAutoFit/>
          </a:bodyPr>
          <a:lstStyle/>
          <a:p>
            <a:pPr algn="r">
              <a:lnSpc>
                <a:spcPts val="1987"/>
              </a:lnSpc>
            </a:pPr>
            <a:r>
              <a:rPr lang="en-US" sz="1987" b="1">
                <a:solidFill>
                  <a:srgbClr val="23403D"/>
                </a:solidFill>
                <a:latin typeface="TT Norms Bold"/>
                <a:ea typeface="TT Norms Bold"/>
                <a:cs typeface="TT Norms Bold"/>
                <a:sym typeface="TT Norms Bold"/>
              </a:rPr>
              <a:t>8</a:t>
            </a:r>
          </a:p>
        </p:txBody>
      </p:sp>
      <p:sp>
        <p:nvSpPr>
          <p:cNvPr id="8" name="TextBox 8"/>
          <p:cNvSpPr txBox="1"/>
          <p:nvPr/>
        </p:nvSpPr>
        <p:spPr>
          <a:xfrm>
            <a:off x="0" y="1688257"/>
            <a:ext cx="16147897" cy="656911"/>
          </a:xfrm>
          <a:prstGeom prst="rect">
            <a:avLst/>
          </a:prstGeom>
          <a:solidFill>
            <a:srgbClr val="419AA8"/>
          </a:solidFill>
        </p:spPr>
        <p:txBody>
          <a:bodyPr wrap="square" lIns="0" tIns="0" rIns="0" bIns="0" rtlCol="0" anchor="t">
            <a:spAutoFit/>
          </a:bodyPr>
          <a:lstStyle/>
          <a:p>
            <a:pPr marL="957361" lvl="1" indent="-571500" algn="l">
              <a:lnSpc>
                <a:spcPts val="5361"/>
              </a:lnSpc>
              <a:buFont typeface="Wingdings" panose="05000000000000000000" pitchFamily="2" charset="2"/>
              <a:buChar char="q"/>
            </a:pPr>
            <a:r>
              <a:rPr lang="en-US" sz="3574" dirty="0">
                <a:solidFill>
                  <a:srgbClr val="23403D"/>
                </a:solidFill>
                <a:latin typeface="TT Norms Bold" panose="020B0604020202020204" charset="0"/>
                <a:ea typeface="TT Norms"/>
                <a:cs typeface="TT Norms"/>
                <a:sym typeface="TT Norms"/>
              </a:rPr>
              <a:t>Comparison of proposed solution with existing solutions in tabular form:</a:t>
            </a:r>
          </a:p>
        </p:txBody>
      </p:sp>
      <p:sp>
        <p:nvSpPr>
          <p:cNvPr id="9" name="Freeform 9"/>
          <p:cNvSpPr/>
          <p:nvPr/>
        </p:nvSpPr>
        <p:spPr>
          <a:xfrm>
            <a:off x="16271287" y="0"/>
            <a:ext cx="2016713" cy="2016713"/>
          </a:xfrm>
          <a:custGeom>
            <a:avLst/>
            <a:gdLst/>
            <a:ahLst/>
            <a:cxnLst/>
            <a:rect l="l" t="t" r="r" b="b"/>
            <a:pathLst>
              <a:path w="2016713" h="2016713">
                <a:moveTo>
                  <a:pt x="0" y="0"/>
                </a:moveTo>
                <a:lnTo>
                  <a:pt x="2016713" y="0"/>
                </a:lnTo>
                <a:lnTo>
                  <a:pt x="2016713" y="2016713"/>
                </a:lnTo>
                <a:lnTo>
                  <a:pt x="0" y="2016713"/>
                </a:lnTo>
                <a:lnTo>
                  <a:pt x="0" y="0"/>
                </a:lnTo>
                <a:close/>
              </a:path>
            </a:pathLst>
          </a:custGeom>
          <a:blipFill>
            <a:blip r:embed="rId4"/>
            <a:stretch>
              <a:fillRect/>
            </a:stretch>
          </a:blipFill>
        </p:spPr>
      </p:sp>
      <p:graphicFrame>
        <p:nvGraphicFramePr>
          <p:cNvPr id="10" name="Table 9">
            <a:extLst>
              <a:ext uri="{FF2B5EF4-FFF2-40B4-BE49-F238E27FC236}">
                <a16:creationId xmlns:a16="http://schemas.microsoft.com/office/drawing/2014/main" id="{033435B9-D490-FFB9-19A8-DFC51DCA4787}"/>
              </a:ext>
            </a:extLst>
          </p:cNvPr>
          <p:cNvGraphicFramePr>
            <a:graphicFrameLocks noGrp="1"/>
          </p:cNvGraphicFramePr>
          <p:nvPr>
            <p:extLst>
              <p:ext uri="{D42A27DB-BD31-4B8C-83A1-F6EECF244321}">
                <p14:modId xmlns:p14="http://schemas.microsoft.com/office/powerpoint/2010/main" val="271298427"/>
              </p:ext>
            </p:extLst>
          </p:nvPr>
        </p:nvGraphicFramePr>
        <p:xfrm>
          <a:off x="601453" y="2578242"/>
          <a:ext cx="16695948" cy="7529448"/>
        </p:xfrm>
        <a:graphic>
          <a:graphicData uri="http://schemas.openxmlformats.org/drawingml/2006/table">
            <a:tbl>
              <a:tblPr>
                <a:tableStyleId>{073A0DAA-6AF3-43AB-8588-CEC1D06C72B9}</a:tableStyleId>
              </a:tblPr>
              <a:tblGrid>
                <a:gridCol w="5494547">
                  <a:extLst>
                    <a:ext uri="{9D8B030D-6E8A-4147-A177-3AD203B41FA5}">
                      <a16:colId xmlns:a16="http://schemas.microsoft.com/office/drawing/2014/main" val="2062887205"/>
                    </a:ext>
                  </a:extLst>
                </a:gridCol>
                <a:gridCol w="5636085">
                  <a:extLst>
                    <a:ext uri="{9D8B030D-6E8A-4147-A177-3AD203B41FA5}">
                      <a16:colId xmlns:a16="http://schemas.microsoft.com/office/drawing/2014/main" val="485993671"/>
                    </a:ext>
                  </a:extLst>
                </a:gridCol>
                <a:gridCol w="5565316">
                  <a:extLst>
                    <a:ext uri="{9D8B030D-6E8A-4147-A177-3AD203B41FA5}">
                      <a16:colId xmlns:a16="http://schemas.microsoft.com/office/drawing/2014/main" val="3803286916"/>
                    </a:ext>
                  </a:extLst>
                </a:gridCol>
              </a:tblGrid>
              <a:tr h="907078">
                <a:tc>
                  <a:txBody>
                    <a:bodyPr/>
                    <a:lstStyle/>
                    <a:p>
                      <a:pPr algn="ctr">
                        <a:buNone/>
                      </a:pPr>
                      <a:r>
                        <a:rPr lang="en-IN" sz="2800" b="1" dirty="0">
                          <a:latin typeface="Arial" panose="020B0604020202020204" pitchFamily="34" charset="0"/>
                          <a:cs typeface="Arial" panose="020B0604020202020204" pitchFamily="34" charset="0"/>
                        </a:rPr>
                        <a:t>Parameter</a:t>
                      </a:r>
                    </a:p>
                  </a:txBody>
                  <a:tcPr marL="61162" marR="61162" marT="30581" marB="30581" anchor="ctr">
                    <a:solidFill>
                      <a:srgbClr val="419AA8"/>
                    </a:solidFill>
                  </a:tcPr>
                </a:tc>
                <a:tc>
                  <a:txBody>
                    <a:bodyPr/>
                    <a:lstStyle/>
                    <a:p>
                      <a:pPr algn="ctr">
                        <a:buNone/>
                      </a:pPr>
                      <a:r>
                        <a:rPr lang="en-IN" sz="2000" b="1" dirty="0">
                          <a:latin typeface="Arial" panose="020B0604020202020204" pitchFamily="34" charset="0"/>
                          <a:cs typeface="Arial" panose="020B0604020202020204" pitchFamily="34" charset="0"/>
                        </a:rPr>
                        <a:t>Existing Motor Monitoring Systems</a:t>
                      </a:r>
                    </a:p>
                  </a:txBody>
                  <a:tcPr marL="61162" marR="61162" marT="30581" marB="30581" anchor="ctr">
                    <a:solidFill>
                      <a:schemeClr val="accent5">
                        <a:lumMod val="60000"/>
                        <a:lumOff val="40000"/>
                      </a:schemeClr>
                    </a:solidFill>
                  </a:tcPr>
                </a:tc>
                <a:tc>
                  <a:txBody>
                    <a:bodyPr/>
                    <a:lstStyle/>
                    <a:p>
                      <a:pPr algn="ctr">
                        <a:buNone/>
                      </a:pPr>
                      <a:r>
                        <a:rPr lang="en-IN" sz="2000" b="1" dirty="0">
                          <a:latin typeface="Arial" panose="020B0604020202020204" pitchFamily="34" charset="0"/>
                          <a:cs typeface="Arial" panose="020B0604020202020204" pitchFamily="34" charset="0"/>
                        </a:rPr>
                        <a:t>Proposed Intelligent Monitoring System</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857996635"/>
                  </a:ext>
                </a:extLst>
              </a:tr>
              <a:tr h="674956">
                <a:tc>
                  <a:txBody>
                    <a:bodyPr/>
                    <a:lstStyle/>
                    <a:p>
                      <a:pPr algn="ctr">
                        <a:buNone/>
                      </a:pPr>
                      <a:r>
                        <a:rPr lang="en-IN" sz="2000" b="1" dirty="0">
                          <a:latin typeface="Arial" panose="020B0604020202020204" pitchFamily="34" charset="0"/>
                          <a:cs typeface="Arial" panose="020B0604020202020204" pitchFamily="34" charset="0"/>
                        </a:rPr>
                        <a:t>Monitoring approach</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Single-parameter or manual monitoring</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Multi-sensor, correlated monitoring</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3412394607"/>
                  </a:ext>
                </a:extLst>
              </a:tr>
              <a:tr h="547766">
                <a:tc>
                  <a:txBody>
                    <a:bodyPr/>
                    <a:lstStyle/>
                    <a:p>
                      <a:pPr algn="ctr">
                        <a:buNone/>
                      </a:pPr>
                      <a:r>
                        <a:rPr lang="en-IN" sz="2000" b="1" dirty="0">
                          <a:latin typeface="Arial" panose="020B0604020202020204" pitchFamily="34" charset="0"/>
                          <a:cs typeface="Arial" panose="020B0604020202020204" pitchFamily="34" charset="0"/>
                        </a:rPr>
                        <a:t>Fault detection</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After fault occurs (reactive)</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Before failure (predictive)</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4216810078"/>
                  </a:ext>
                </a:extLst>
              </a:tr>
              <a:tr h="674956">
                <a:tc>
                  <a:txBody>
                    <a:bodyPr/>
                    <a:lstStyle/>
                    <a:p>
                      <a:pPr algn="ctr">
                        <a:buNone/>
                      </a:pPr>
                      <a:r>
                        <a:rPr lang="en-IN" sz="2000" b="1" dirty="0">
                          <a:latin typeface="Arial" panose="020B0604020202020204" pitchFamily="34" charset="0"/>
                          <a:cs typeface="Arial" panose="020B0604020202020204" pitchFamily="34" charset="0"/>
                        </a:rPr>
                        <a:t>Detection accuracy</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Moderate, prone to false alarms</a:t>
                      </a:r>
                    </a:p>
                  </a:txBody>
                  <a:tcPr marL="61162" marR="61162" marT="30581" marB="30581" anchor="ctr">
                    <a:solidFill>
                      <a:schemeClr val="accent5">
                        <a:lumMod val="60000"/>
                        <a:lumOff val="40000"/>
                      </a:schemeClr>
                    </a:solidFill>
                  </a:tcPr>
                </a:tc>
                <a:tc>
                  <a:txBody>
                    <a:bodyPr/>
                    <a:lstStyle/>
                    <a:p>
                      <a:pPr algn="ctr">
                        <a:buNone/>
                      </a:pPr>
                      <a:r>
                        <a:rPr lang="en-US" sz="1600" dirty="0">
                          <a:latin typeface="Arial" panose="020B0604020202020204" pitchFamily="34" charset="0"/>
                          <a:cs typeface="Arial" panose="020B0604020202020204" pitchFamily="34" charset="0"/>
                        </a:rPr>
                        <a:t>High accuracy using data correlation</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3148974951"/>
                  </a:ext>
                </a:extLst>
              </a:tr>
              <a:tr h="674956">
                <a:tc>
                  <a:txBody>
                    <a:bodyPr/>
                    <a:lstStyle/>
                    <a:p>
                      <a:pPr algn="ctr">
                        <a:buNone/>
                      </a:pPr>
                      <a:r>
                        <a:rPr lang="en-IN" sz="2000" b="1" dirty="0">
                          <a:latin typeface="Arial" panose="020B0604020202020204" pitchFamily="34" charset="0"/>
                          <a:cs typeface="Arial" panose="020B0604020202020204" pitchFamily="34" charset="0"/>
                        </a:rPr>
                        <a:t>Response time</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Delayed, manual intervention</a:t>
                      </a:r>
                    </a:p>
                  </a:txBody>
                  <a:tcPr marL="61162" marR="61162" marT="30581" marB="30581" anchor="ctr">
                    <a:solidFill>
                      <a:schemeClr val="accent5">
                        <a:lumMod val="60000"/>
                        <a:lumOff val="40000"/>
                      </a:schemeClr>
                    </a:solidFill>
                  </a:tcPr>
                </a:tc>
                <a:tc>
                  <a:txBody>
                    <a:bodyPr/>
                    <a:lstStyle/>
                    <a:p>
                      <a:pPr algn="ctr">
                        <a:buNone/>
                      </a:pPr>
                      <a:r>
                        <a:rPr lang="en-US" sz="1600" dirty="0">
                          <a:latin typeface="Arial" panose="020B0604020202020204" pitchFamily="34" charset="0"/>
                          <a:cs typeface="Arial" panose="020B0604020202020204" pitchFamily="34" charset="0"/>
                        </a:rPr>
                        <a:t>Real-time (&lt;100 </a:t>
                      </a:r>
                      <a:r>
                        <a:rPr lang="en-US" sz="1600" dirty="0" err="1">
                          <a:latin typeface="Arial" panose="020B0604020202020204" pitchFamily="34" charset="0"/>
                          <a:cs typeface="Arial" panose="020B0604020202020204" pitchFamily="34" charset="0"/>
                        </a:rPr>
                        <a:t>ms</a:t>
                      </a:r>
                      <a:r>
                        <a:rPr lang="en-US" sz="1600" dirty="0">
                          <a:latin typeface="Arial" panose="020B0604020202020204" pitchFamily="34" charset="0"/>
                          <a:cs typeface="Arial" panose="020B0604020202020204" pitchFamily="34" charset="0"/>
                        </a:rPr>
                        <a:t>) automatic response</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723918897"/>
                  </a:ext>
                </a:extLst>
              </a:tr>
              <a:tr h="674956">
                <a:tc>
                  <a:txBody>
                    <a:bodyPr/>
                    <a:lstStyle/>
                    <a:p>
                      <a:pPr algn="ctr">
                        <a:buNone/>
                      </a:pPr>
                      <a:r>
                        <a:rPr lang="en-IN" sz="2000" b="1" dirty="0">
                          <a:latin typeface="Arial" panose="020B0604020202020204" pitchFamily="34" charset="0"/>
                          <a:cs typeface="Arial" panose="020B0604020202020204" pitchFamily="34" charset="0"/>
                        </a:rPr>
                        <a:t>Maintenance type</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Breakdown or time-based</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Condition-based, predictive maintenance</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347602992"/>
                  </a:ext>
                </a:extLst>
              </a:tr>
              <a:tr h="674956">
                <a:tc>
                  <a:txBody>
                    <a:bodyPr/>
                    <a:lstStyle/>
                    <a:p>
                      <a:pPr algn="ctr">
                        <a:buNone/>
                      </a:pPr>
                      <a:r>
                        <a:rPr lang="en-IN" sz="2000" b="1" dirty="0">
                          <a:latin typeface="Arial" panose="020B0604020202020204" pitchFamily="34" charset="0"/>
                          <a:cs typeface="Arial" panose="020B0604020202020204" pitchFamily="34" charset="0"/>
                        </a:rPr>
                        <a:t>Safety action</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Alerts only</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Alerts + automatic motor shutdown</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5665433"/>
                  </a:ext>
                </a:extLst>
              </a:tr>
              <a:tr h="674956">
                <a:tc>
                  <a:txBody>
                    <a:bodyPr/>
                    <a:lstStyle/>
                    <a:p>
                      <a:pPr algn="ctr">
                        <a:buNone/>
                      </a:pPr>
                      <a:r>
                        <a:rPr lang="en-IN" sz="2000" b="1" dirty="0">
                          <a:latin typeface="Arial" panose="020B0604020202020204" pitchFamily="34" charset="0"/>
                          <a:cs typeface="Arial" panose="020B0604020202020204" pitchFamily="34" charset="0"/>
                        </a:rPr>
                        <a:t>Data access</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Local indicators, no history</a:t>
                      </a:r>
                    </a:p>
                  </a:txBody>
                  <a:tcPr marL="61162" marR="61162" marT="30581" marB="30581" anchor="ctr">
                    <a:solidFill>
                      <a:schemeClr val="accent5">
                        <a:lumMod val="60000"/>
                        <a:lumOff val="40000"/>
                      </a:schemeClr>
                    </a:solidFill>
                  </a:tcPr>
                </a:tc>
                <a:tc>
                  <a:txBody>
                    <a:bodyPr/>
                    <a:lstStyle/>
                    <a:p>
                      <a:pPr algn="ctr">
                        <a:buNone/>
                      </a:pPr>
                      <a:r>
                        <a:rPr lang="en-US" sz="1600" dirty="0">
                          <a:latin typeface="Arial" panose="020B0604020202020204" pitchFamily="34" charset="0"/>
                          <a:cs typeface="Arial" panose="020B0604020202020204" pitchFamily="34" charset="0"/>
                        </a:rPr>
                        <a:t>Cloud-based dashboard with data logs</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400284688"/>
                  </a:ext>
                </a:extLst>
              </a:tr>
              <a:tr h="674956">
                <a:tc>
                  <a:txBody>
                    <a:bodyPr/>
                    <a:lstStyle/>
                    <a:p>
                      <a:pPr algn="ctr">
                        <a:buNone/>
                      </a:pPr>
                      <a:r>
                        <a:rPr lang="en-IN" sz="2000" b="1" dirty="0">
                          <a:latin typeface="Arial" panose="020B0604020202020204" pitchFamily="34" charset="0"/>
                          <a:cs typeface="Arial" panose="020B0604020202020204" pitchFamily="34" charset="0"/>
                        </a:rPr>
                        <a:t>Cost</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High proprietary systems</a:t>
                      </a:r>
                    </a:p>
                  </a:txBody>
                  <a:tcPr marL="61162" marR="61162" marT="30581" marB="30581" anchor="ctr">
                    <a:solidFill>
                      <a:schemeClr val="accent5">
                        <a:lumMod val="60000"/>
                        <a:lumOff val="40000"/>
                      </a:schemeClr>
                    </a:solidFill>
                  </a:tcPr>
                </a:tc>
                <a:tc>
                  <a:txBody>
                    <a:bodyPr/>
                    <a:lstStyle/>
                    <a:p>
                      <a:pPr algn="ctr">
                        <a:buNone/>
                      </a:pPr>
                      <a:r>
                        <a:rPr lang="en-US" sz="1600" dirty="0">
                          <a:latin typeface="Arial" panose="020B0604020202020204" pitchFamily="34" charset="0"/>
                          <a:cs typeface="Arial" panose="020B0604020202020204" pitchFamily="34" charset="0"/>
                        </a:rPr>
                        <a:t>Low cost (~₹5,000 per motor)</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809510050"/>
                  </a:ext>
                </a:extLst>
              </a:tr>
              <a:tr h="674956">
                <a:tc>
                  <a:txBody>
                    <a:bodyPr/>
                    <a:lstStyle/>
                    <a:p>
                      <a:pPr algn="ctr">
                        <a:buNone/>
                      </a:pPr>
                      <a:r>
                        <a:rPr lang="en-IN" sz="2000" b="1" dirty="0">
                          <a:latin typeface="Arial" panose="020B0604020202020204" pitchFamily="34" charset="0"/>
                          <a:cs typeface="Arial" panose="020B0604020202020204" pitchFamily="34" charset="0"/>
                        </a:rPr>
                        <a:t>Scalability</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Limited, complex expansion</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Easily scalable across motors</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599105737"/>
                  </a:ext>
                </a:extLst>
              </a:tr>
              <a:tr h="674956">
                <a:tc>
                  <a:txBody>
                    <a:bodyPr/>
                    <a:lstStyle/>
                    <a:p>
                      <a:pPr algn="ctr">
                        <a:buNone/>
                      </a:pPr>
                      <a:r>
                        <a:rPr lang="en-IN" sz="2000" b="1" dirty="0">
                          <a:latin typeface="Arial" panose="020B0604020202020204" pitchFamily="34" charset="0"/>
                          <a:cs typeface="Arial" panose="020B0604020202020204" pitchFamily="34" charset="0"/>
                        </a:rPr>
                        <a:t>Suitability</a:t>
                      </a:r>
                    </a:p>
                  </a:txBody>
                  <a:tcPr marL="61162" marR="61162" marT="30581" marB="30581" anchor="ctr">
                    <a:solidFill>
                      <a:srgbClr val="419AA8"/>
                    </a:solidFill>
                  </a:tcPr>
                </a:tc>
                <a:tc>
                  <a:txBody>
                    <a:bodyPr/>
                    <a:lstStyle/>
                    <a:p>
                      <a:pPr algn="ctr">
                        <a:buNone/>
                      </a:pPr>
                      <a:r>
                        <a:rPr lang="en-IN" sz="1600" dirty="0">
                          <a:latin typeface="Arial" panose="020B0604020202020204" pitchFamily="34" charset="0"/>
                          <a:cs typeface="Arial" panose="020B0604020202020204" pitchFamily="34" charset="0"/>
                        </a:rPr>
                        <a:t>Large industries only</a:t>
                      </a:r>
                    </a:p>
                  </a:txBody>
                  <a:tcPr marL="61162" marR="61162" marT="30581" marB="30581" anchor="ctr">
                    <a:solidFill>
                      <a:schemeClr val="accent5">
                        <a:lumMod val="60000"/>
                        <a:lumOff val="40000"/>
                      </a:schemeClr>
                    </a:solidFill>
                  </a:tcPr>
                </a:tc>
                <a:tc>
                  <a:txBody>
                    <a:bodyPr/>
                    <a:lstStyle/>
                    <a:p>
                      <a:pPr algn="ctr">
                        <a:buNone/>
                      </a:pPr>
                      <a:r>
                        <a:rPr lang="en-IN" sz="1600" dirty="0">
                          <a:latin typeface="Arial" panose="020B0604020202020204" pitchFamily="34" charset="0"/>
                          <a:cs typeface="Arial" panose="020B0604020202020204" pitchFamily="34" charset="0"/>
                        </a:rPr>
                        <a:t>MSMEs and large industries</a:t>
                      </a:r>
                    </a:p>
                  </a:txBody>
                  <a:tcPr marL="61162" marR="61162" marT="30581" marB="30581" anchor="ctr">
                    <a:solidFill>
                      <a:schemeClr val="accent5">
                        <a:lumMod val="60000"/>
                        <a:lumOff val="40000"/>
                      </a:schemeClr>
                    </a:solidFill>
                  </a:tcPr>
                </a:tc>
                <a:extLst>
                  <a:ext uri="{0D108BD9-81ED-4DB2-BD59-A6C34878D82A}">
                    <a16:rowId xmlns:a16="http://schemas.microsoft.com/office/drawing/2014/main" val="275411891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835</TotalTime>
  <Words>1448</Words>
  <Application>Microsoft Office PowerPoint</Application>
  <PresentationFormat>Custom</PresentationFormat>
  <Paragraphs>214</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TT Norms Bold Italics</vt:lpstr>
      <vt:lpstr>TT Norms</vt:lpstr>
      <vt:lpstr>TT Norms Bold</vt:lpstr>
      <vt:lpstr>Calibri</vt:lpstr>
      <vt:lpstr>Arial</vt:lpstr>
      <vt:lpstr>Bernoru</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Template</dc:title>
  <dc:creator>PANKTI</dc:creator>
  <cp:lastModifiedBy>Pankti Thakkar</cp:lastModifiedBy>
  <cp:revision>4</cp:revision>
  <dcterms:created xsi:type="dcterms:W3CDTF">2006-08-16T00:00:00Z</dcterms:created>
  <dcterms:modified xsi:type="dcterms:W3CDTF">2025-12-19T20:11:02Z</dcterms:modified>
  <dc:identifier>DAG5rwfsW74</dc:identifier>
</cp:coreProperties>
</file>